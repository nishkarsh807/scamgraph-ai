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74720" y="1097280"/>
            <a:ext cx="5212080" cy="411480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TRACK 2 • AI-DRIVEN SCAM PATTERN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ScamGraph AI</a:t>
            </a:r>
          </a:p>
          <a:p>
            <a:pPr algn="ctr">
              <a:defRPr sz="2200" b="1">
                <a:solidFill>
                  <a:srgbClr val="38BDF8"/>
                </a:solidFill>
              </a:defRPr>
            </a:pPr>
            <a:r>
              <a:t>From suspicious messages to complete scam workflows.</a:t>
            </a:r>
          </a:p>
          <a:p>
            <a:br/>
            <a:pPr algn="ctr">
              <a:defRPr sz="1300">
                <a:solidFill>
                  <a:srgbClr val="94A3B8"/>
                </a:solidFill>
              </a:defRPr>
            </a:pPr>
            <a:r>
              <a:t>Detect Multi-Stage Scam Workflows  •  Fingerprint Scam DNA  •  Stop Fraud Before Money Moves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2468880" cy="11887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100% Recall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Zero Missed Scams on Test 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389120"/>
            <a:ext cx="2468880" cy="11887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8 Playbooks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Multi-Event Workflow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389120"/>
            <a:ext cx="2468880" cy="11887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A855F7"/>
                </a:solidFill>
              </a:defRPr>
            </a:pPr>
            <a:r>
              <a:t>Scam DNA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Semantic Vector Fingerprinting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4389120"/>
            <a:ext cx="2468880" cy="11887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React Flow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Interactive Scam Graph Topology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978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94A3B8"/>
                </a:solidFill>
              </a:defRPr>
            </a:pPr>
            <a:r>
              <a:t>Author: Nishkarsh Singh  |  GitHub: github.com/Nishkarsh807/scamgraph-ai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SCAMGRAPH AI • TRACK 2: AI-DRIVEN SCAM PATTERN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Problem: Fraudsters Execute Workflows, Not Single Texts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94960" cy="3749039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25880"/>
            <a:ext cx="5065776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How a Real Scam Unfolds Across Channels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Step 1 (SMS): </a:t>
            </a:r>
            <a:r>
              <a:rPr sz="1100">
                <a:solidFill>
                  <a:srgbClr val="E2E8F0"/>
                </a:solidFill>
              </a:rPr>
              <a:t>'Dear customer, your SBI KYC expires today.' — Appears benign in isolation.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Step 2 (Link): </a:t>
            </a:r>
            <a:r>
              <a:rPr sz="1100">
                <a:solidFill>
                  <a:srgbClr val="E2E8F0"/>
                </a:solidFill>
              </a:rPr>
              <a:t>'Update PAN immediately at http://sbi-kyc-update.xyz' — Phishing lure.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Step 3 (Web): </a:t>
            </a:r>
            <a:r>
              <a:rPr sz="1100">
                <a:solidFill>
                  <a:srgbClr val="E2E8F0"/>
                </a:solidFill>
              </a:rPr>
              <a:t>Fake banking page harvests NetBanking username &amp; password.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Step 4 (Call/WhatsApp): </a:t>
            </a:r>
            <a:r>
              <a:rPr sz="1100">
                <a:solidFill>
                  <a:srgbClr val="E2E8F0"/>
                </a:solidFill>
              </a:rPr>
              <a:t>'Tell our executive the 6-digit OTP to unfreeze your account.'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Step 5 (UPI): </a:t>
            </a:r>
            <a:r>
              <a:rPr sz="1100">
                <a:solidFill>
                  <a:srgbClr val="F43F5E"/>
                </a:solidFill>
              </a:rPr>
              <a:t>'Approve ₹1 verification collect request' -&gt; Drains ₹95,000.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94960" cy="3749039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25880"/>
            <a:ext cx="5065776" cy="347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Why Traditional Spam Classifiers Fail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1. Zero State Memory: </a:t>
            </a:r>
            <a:r>
              <a:rPr sz="1100">
                <a:solidFill>
                  <a:srgbClr val="E2E8F0"/>
                </a:solidFill>
              </a:rPr>
              <a:t>Evaluates each SMS independently without linking previous messages.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2. High Alert Fatigue: </a:t>
            </a:r>
            <a:r>
              <a:rPr sz="1100">
                <a:solidFill>
                  <a:srgbClr val="E2E8F0"/>
                </a:solidFill>
              </a:rPr>
              <a:t>Flags harmless marketing promos while missing subtle social engineering.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3. Hinglish Evasion: </a:t>
            </a:r>
            <a:r>
              <a:rPr sz="1100">
                <a:solidFill>
                  <a:srgbClr val="E2E8F0"/>
                </a:solidFill>
              </a:rPr>
              <a:t>Fails on Romanized Hindi ('Aapka khata band ho jayega turant').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4. Black-Box Output: </a:t>
            </a:r>
            <a:r>
              <a:rPr sz="1100">
                <a:solidFill>
                  <a:srgbClr val="E2E8F0"/>
                </a:solidFill>
              </a:rPr>
              <a:t>Shows 'Spam: 80%' without explaining why or what the user should do.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5. No Campaign Vision: </a:t>
            </a:r>
            <a:r>
              <a:rPr sz="1100">
                <a:solidFill>
                  <a:srgbClr val="E2E8F0"/>
                </a:solidFill>
              </a:rPr>
              <a:t>Cannot connect 100 slightly reworded texts to one fraud 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57800"/>
            <a:ext cx="1600200" cy="868680"/>
          </a:xfrm>
          <a:prstGeom prst="roundRect">
            <a:avLst/>
          </a:prstGeom>
          <a:solidFill>
            <a:srgbClr val="131C3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Event 1</a:t>
            </a:r>
            <a:br/>
            <a:r>
              <a:t>Unknown Sender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94560" y="5577840"/>
            <a:ext cx="182880" cy="2286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3160" y="5257800"/>
            <a:ext cx="1600200" cy="868680"/>
          </a:xfrm>
          <a:prstGeom prst="roundRect">
            <a:avLst/>
          </a:prstGeom>
          <a:solidFill>
            <a:srgbClr val="131C3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Event 2</a:t>
            </a:r>
            <a:br/>
            <a:r>
              <a:t>KYC Expiry Threat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69080" y="5577840"/>
            <a:ext cx="182880" cy="2286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79" y="5257800"/>
            <a:ext cx="1600200" cy="868680"/>
          </a:xfrm>
          <a:prstGeom prst="roundRect">
            <a:avLst/>
          </a:prstGeom>
          <a:solidFill>
            <a:srgbClr val="131C3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Event 3</a:t>
            </a:r>
            <a:br/>
            <a:r>
              <a:t>Suspicious URL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43599" y="5577840"/>
            <a:ext cx="182880" cy="2286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199" y="5257800"/>
            <a:ext cx="1600200" cy="868680"/>
          </a:xfrm>
          <a:prstGeom prst="roundRect">
            <a:avLst/>
          </a:prstGeom>
          <a:solidFill>
            <a:srgbClr val="4C0519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Event 4</a:t>
            </a:r>
            <a:br/>
            <a:r>
              <a:t>Credential Theft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18119" y="5577840"/>
            <a:ext cx="182880" cy="2286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19" y="5257800"/>
            <a:ext cx="1600200" cy="868680"/>
          </a:xfrm>
          <a:prstGeom prst="roundRect">
            <a:avLst/>
          </a:prstGeom>
          <a:solidFill>
            <a:srgbClr val="4C0519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Event 5</a:t>
            </a:r>
            <a:br/>
            <a:r>
              <a:t>OTP Request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92639" y="5577840"/>
            <a:ext cx="182880" cy="22860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21240" y="5257800"/>
            <a:ext cx="1600200" cy="868680"/>
          </a:xfrm>
          <a:prstGeom prst="roundRect">
            <a:avLst/>
          </a:prstGeom>
          <a:solidFill>
            <a:srgbClr val="4C0519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Event 6</a:t>
            </a:r>
            <a:br/>
            <a:r>
              <a:t>UPI Account Drain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SCAMGRAPH AI • TRACK 2: AI-DRIVEN SCAM PATTERN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Core Innovation: The ScamGraph AI Paradigm Shift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11064240" cy="105156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CORE PRODUCT PRINCIPLE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Do NOT ask: "Is this message spam?"   ➔   Ask: "What scam workflow is unfolding, how risky is it, what evidence supports that conclusion, and what should the user do next?"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37744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114800"/>
                <a:gridCol w="4572000"/>
              </a:tblGrid>
              <a:tr h="574765"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Legacy Spam Classifiers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 b="1">
                          <a:solidFill>
                            <a:srgbClr val="0B1120"/>
                          </a:solidFill>
                        </a:defRPr>
                      </a:pPr>
                      <a:r>
                        <a:t>ScamGraph AI Platform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Detection Scope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Isolated single-message text classification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Multi-event Scam Workflow State Machine (8 Playbooks)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Campaign Tracking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None — treats every reworded SMS as new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Scam DNA Semantic Vectors (#UPI-KYC-042)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Emerging Threats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Static rule updates weeks after outbreak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Unsupervised DBSCAN Clustering (+64% velocity alerts)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Language Support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English keyword matching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Multilingual MuRIL + Hinglish Subword N-grams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Alert Fatigue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High false alarms on benign bank alerts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Adaptive 4-Tier Intervention + Campaign Deduplication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</a:tr>
              <a:tr h="574770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Explainability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0">
                          <a:solidFill>
                            <a:srgbClr val="94A3B8"/>
                          </a:solidFill>
                        </a:defRPr>
                      </a:pPr>
                      <a:r>
                        <a:t>Black-box probability score only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Plain-English Evidence + Next Attacker Move + Action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SCAMGRAPH AI • TRACK 2: AI-DRIVEN SCAM PATTERN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Architecture: Multi-Engine Fraud Intelligence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64240" cy="731520"/>
          </a:xfrm>
          <a:prstGeom prst="roundRect">
            <a:avLst/>
          </a:prstGeom>
          <a:solidFill>
            <a:srgbClr val="131C31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1. INPUT &amp; ENTITY PRESERVATION LAYER  —  SMS • WhatsApp • Email • UPI Request • URL • Call/Chat Transcript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Preserves URLs, ₹ Amounts, Phone Numbers, UPI Handles, OTP Keywords &amp; Detects English / Hinglish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2560320" cy="14173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2A. NLP ML Engine</a:t>
            </a:r>
          </a:p>
          <a:p>
            <a:br/>
            <a:pPr algn="ctr">
              <a:defRPr sz="1000">
                <a:solidFill>
                  <a:srgbClr val="FFFFFF"/>
                </a:solidFill>
              </a:defRPr>
            </a:pPr>
            <a:r>
              <a:t>MuRIL + Word/Char N-Grams</a:t>
            </a:r>
            <a:br/>
            <a:r>
              <a:t>Binary + 13-Class Taxonomy</a:t>
            </a:r>
            <a:br/>
            <a:r>
              <a:t>(Weight: 0.45)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48840"/>
            <a:ext cx="2560320" cy="14173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2B. Signal Rule Engine</a:t>
            </a:r>
          </a:p>
          <a:p>
            <a:br/>
            <a:pPr algn="ctr">
              <a:defRPr sz="1000">
                <a:solidFill>
                  <a:srgbClr val="FFFFFF"/>
                </a:solidFill>
              </a:defRPr>
            </a:pPr>
            <a:r>
              <a:t>11 Deterministic Indicators</a:t>
            </a:r>
            <a:br/>
            <a:r>
              <a:t>Urgency, Threat, KYC, OTP</a:t>
            </a:r>
            <a:br/>
            <a:r>
              <a:t>(Weight: 0.25)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48840"/>
            <a:ext cx="2560320" cy="14173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2C. URL Threat Analyzer</a:t>
            </a:r>
          </a:p>
          <a:p>
            <a:br/>
            <a:pPr algn="ctr">
              <a:defRPr sz="1000">
                <a:solidFill>
                  <a:srgbClr val="FFFFFF"/>
                </a:solidFill>
              </a:defRPr>
            </a:pPr>
            <a:r>
              <a:t>Typosquatting, High-Abuse TLD</a:t>
            </a:r>
            <a:br/>
            <a:r>
              <a:t>HTTP, Brand Impersonation</a:t>
            </a:r>
            <a:br/>
            <a:r>
              <a:t>(Weight: 0.15)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2148840"/>
            <a:ext cx="2560320" cy="14173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855F7"/>
                </a:solidFill>
              </a:defRPr>
            </a:pPr>
            <a:r>
              <a:t>2D. Workflow Engine</a:t>
            </a:r>
          </a:p>
          <a:p>
            <a:br/>
            <a:pPr algn="ctr">
              <a:defRPr sz="1000">
                <a:solidFill>
                  <a:srgbClr val="FFFFFF"/>
                </a:solidFill>
              </a:defRPr>
            </a:pPr>
            <a:r>
              <a:t>8 Attack Playbooks</a:t>
            </a:r>
            <a:br/>
            <a:r>
              <a:t>Partial Sequence Alignment</a:t>
            </a:r>
            <a:br/>
            <a:r>
              <a:t>(Weight: 0.15)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94760"/>
            <a:ext cx="5394960" cy="1097280"/>
          </a:xfrm>
          <a:prstGeom prst="roundRect">
            <a:avLst/>
          </a:prstGeom>
          <a:solidFill>
            <a:srgbClr val="131C31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855F7"/>
                </a:solidFill>
              </a:defRPr>
            </a:pPr>
            <a:r>
              <a:t>3. SCAM DNA &amp; DBSCAN EMERGING ENGINE</a:t>
            </a:r>
          </a:p>
          <a:p>
            <a:pPr algn="ctr">
              <a:defRPr sz="1000">
                <a:solidFill>
                  <a:srgbClr val="E2E8F0"/>
                </a:solidFill>
              </a:defRPr>
            </a:pPr>
            <a:r>
              <a:t>SentenceTransformer Cosine Similarity -&gt; Campaign Tag (#UPI-KYC-042)</a:t>
            </a:r>
            <a:br/>
            <a:r>
              <a:t>Unsupervised DBSCAN Clusters -&gt; Weekly Growth Velocity Alerts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94760"/>
            <a:ext cx="5394960" cy="1097280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4. COMPOSITE RISK &amp; ALERT FATIGUE ENGINE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Risk = 0.45*ML + 0.25*Rule + 0.15*URL + 0.15*Workflow (0-100)</a:t>
            </a:r>
            <a:br/>
            <a:r>
              <a:t>Tiers: LOW (0-29) • MEDIUM (30-59) • HIGH (60-79) • CRITICAL (80-100)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20640"/>
            <a:ext cx="1106424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5. ACTIONABLE OUTPUT &amp; VISUALIZATION LAYER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✓ Calibrated Risk Score (91/100)    ✓ Explainable 'Why' Evidence    ✓ Predicted Next Attacker Step</a:t>
            </a:r>
            <a:br/>
            <a:r>
              <a:t>✓ React Flow Scam Graph Topology    ✓ Deduplicated Campaign Notice    ✓ Privacy-Redacted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SCAMGRAPH AI • TRACK 2: AI-DRIVEN SCAM PATTERN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Workflow Intelligence: Universal Fraud Event Taxonomy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642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11680"/>
                <a:gridCol w="3291840"/>
                <a:gridCol w="3200400"/>
              </a:tblGrid>
              <a:tr h="473825"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0B1120"/>
                          </a:solidFill>
                        </a:defRPr>
                      </a:pPr>
                      <a:r>
                        <a:t>Atomic Event Token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0B1120"/>
                          </a:solidFill>
                        </a:defRPr>
                      </a:pPr>
                      <a:r>
                        <a:t>Stage Role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0B1120"/>
                          </a:solidFill>
                        </a:defRPr>
                      </a:pPr>
                      <a:r>
                        <a:t>Detection Trigger Mechanism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 b="1">
                          <a:solidFill>
                            <a:srgbClr val="0B1120"/>
                          </a:solidFill>
                        </a:defRPr>
                      </a:pPr>
                      <a:r>
                        <a:t>Real Message / Transcript Example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KYC_WARNING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Initial Hook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Keywords: kyc, pan, aadhaar, yono, suspended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'Your SBI YONO account KYC expired today'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DISCONNECTION_THREAT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Panic Hook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Utility keywords + tonight / 9:30 PM outage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'Electricity power will be cut tonight at 9:30 PM'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LAW_ENFORCEMENT_IMP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Fear Coercion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CBI, Cyber Crime, Customs, FedEx, Warrant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'Inspector Rajesh from Mumbai Cyber Crime'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JOB_OR_LOTTERY_LURE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Greed Hook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Daily income, YouTube task, KBC 25 Lakhs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'Earn ₹5,000 daily liking YouTube videos'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URGENCY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Psychological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Immediately, turant, 24 hours, final notice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'Update within 2 hours or account freezes'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EXTERNAL_LINK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Vector Delivery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Regex URL extraction + suspicious TLD check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'Click http://sbi-kyc-verify.xyz/login'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REMOTE_ACCESS_REQ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Device Takeover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AnyDesk, TeamViewer, QuickSupport, APK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'Install QuickSupport APK and share 9-digit code'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CREDENTIAL_REQUEST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Data Harvest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CVV, NetBanking password, card details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'Enter your username and card CVV to verify'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73825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OTP_REQUEST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Auth Bypass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6-digit OTP, verification code, share token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'Tell the 6-digit OTP sent to your mobile'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</a:tr>
              <a:tr h="473830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UPI_REQUEST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Financial Drain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E2E8F0"/>
                          </a:solidFill>
                        </a:defRPr>
                      </a:pPr>
                      <a:r>
                        <a:t>Collect request, scan QR, enter UPI PIN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'Scan QR and enter UPI PIN to receive ₹5,000'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SCAMGRAPH AI • TRACK 2: AI-DRIVEN SCAM PATTERN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06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Scam Workflow Engine: 8 Canonical Attack Playbooks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440680" cy="11887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25880"/>
            <a:ext cx="51114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1. KYC Account Takeover (#UPI-KYC-042)</a:t>
            </a:r>
          </a:p>
          <a:p>
            <a:pPr>
              <a:defRPr sz="850" b="1">
                <a:solidFill>
                  <a:srgbClr val="FFFFFF"/>
                </a:solidFill>
              </a:defRPr>
            </a:pPr>
            <a:r>
              <a:t>KYC_WARNING ➔ URGENCY ➔ EXTERNAL_LINK ➔ CREDENTIAL_REQUEST ➔ OTP_REQUEST ➔ UNAUTHORIZED_TXN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Exploits fear of bank account freeze to harvest NetBanking credentials and OTPs.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88720"/>
            <a:ext cx="5440680" cy="11887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325880"/>
            <a:ext cx="51114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2. Reverse UPI Collect Scam (#UPI-COLLECT-019)</a:t>
            </a:r>
          </a:p>
          <a:p>
            <a:pPr>
              <a:defRPr sz="850" b="1">
                <a:solidFill>
                  <a:srgbClr val="FFFFFF"/>
                </a:solidFill>
              </a:defRPr>
            </a:pPr>
            <a:r>
              <a:t>PAYMENT_LURE ➔ UPI_LINK ➔ URGENCY ➔ PIN_OR_OTP_REQUEST ➔ FINANCIAL_DRAIN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Deceives victim into entering their secret UPI PIN under the guise of receiving a refund or OLX payment.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87168"/>
            <a:ext cx="5440680" cy="11887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624328"/>
            <a:ext cx="51114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Remote Tech/Bank Support (#SUPP-REMOTE-007)</a:t>
            </a:r>
          </a:p>
          <a:p>
            <a:pPr>
              <a:defRPr sz="850" b="1">
                <a:solidFill>
                  <a:srgbClr val="FFFFFF"/>
                </a:solidFill>
              </a:defRPr>
            </a:pPr>
            <a:r>
              <a:t>BANK_SUPPORT_IMPERSONATION ➔ DISPUTE_CLAIM ➔ REMOTE_ACCESS (AnyDesk) ➔ CREDENTIAL_REQUEST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Tricks victim into installing screen-sharing tools to silently read SMS OTPs.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487168"/>
            <a:ext cx="5440680" cy="11887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2624328"/>
            <a:ext cx="51114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4. Part-Time Job &amp; VIP Task Trap (#TASK-JOB-088)</a:t>
            </a:r>
          </a:p>
          <a:p>
            <a:pPr>
              <a:defRPr sz="850" b="1">
                <a:solidFill>
                  <a:srgbClr val="FFFFFF"/>
                </a:solidFill>
              </a:defRPr>
            </a:pPr>
            <a:r>
              <a:t>JOB_OFFER ➔ INITIAL_REWARD (₹150) ➔ VIP_TASK_FEE ➔ ESCALATING_PAYMENT ➔ LOCKOUT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Builds trust with micro-payouts before demanding large crypto/UPI deposits to unlock earnings.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85615"/>
            <a:ext cx="5440680" cy="11887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922775"/>
            <a:ext cx="51114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5. Electricity Outage Panic (#ELEC-DISCONN-019)</a:t>
            </a:r>
          </a:p>
          <a:p>
            <a:pPr>
              <a:defRPr sz="850" b="1">
                <a:solidFill>
                  <a:srgbClr val="FFFFFF"/>
                </a:solidFill>
              </a:defRPr>
            </a:pPr>
            <a:r>
              <a:t>DISCONNECTION_THREAT ➔ URGENCY (Tonight) ➔ FAKE_OFFICER_CALL ➔ APK_OR_FEE ➔ OTP_DRAIN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Creates evening panic about power disconnection to force interaction with a fake officer.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85615"/>
            <a:ext cx="5440680" cy="11887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3922775"/>
            <a:ext cx="51114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6. Law Enforcement Digital Arrest (#CYBER-ARREST-104)</a:t>
            </a:r>
          </a:p>
          <a:p>
            <a:pPr>
              <a:defRPr sz="850" b="1">
                <a:solidFill>
                  <a:srgbClr val="FFFFFF"/>
                </a:solidFill>
              </a:defRPr>
            </a:pPr>
            <a:r>
              <a:t>POLICE_IMPERSONATION ➔ CONTRABAND_ACCUSATION ➔ SKYPE_ARREST_THREAT ➔ ESCROW_TRANSFER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Coerces victims on video call into transferring savings to a fake 'RBI verification account'.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84064"/>
            <a:ext cx="5440680" cy="11887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5221224"/>
            <a:ext cx="51114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7. Pre-Approved Loan Advance Fee (#LOAN-ADVANCE-031)</a:t>
            </a:r>
          </a:p>
          <a:p>
            <a:pPr>
              <a:defRPr sz="850" b="1">
                <a:solidFill>
                  <a:srgbClr val="FFFFFF"/>
                </a:solidFill>
              </a:defRPr>
            </a:pPr>
            <a:r>
              <a:t>LOAN_OFFER ➔ INSTANT_APPROVAL ➔ PROCESSING_OR_GST_FEE ➔ PAYMENT_REQUEST ➔ GHOSTING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Offers 0% CIBIL-free loans and steals upfront processing/insurance fees.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5084064"/>
            <a:ext cx="5440680" cy="118872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5221224"/>
            <a:ext cx="51114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8. KBC / Lucky Draw Prize Scam (#KBC-LUCKY-055)</a:t>
            </a:r>
          </a:p>
          <a:p>
            <a:pPr>
              <a:defRPr sz="850" b="1">
                <a:solidFill>
                  <a:srgbClr val="FFFFFF"/>
                </a:solidFill>
              </a:defRPr>
            </a:pPr>
            <a:r>
              <a:t>LOTTERY_WIN_ANNOUNCEMENT ➔ WHATSAPP_DIRECTIVE ➔ TAX_CLEARANCE_FEE ➔ PAYMENT_REQUEST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Promises ₹25 Lakh lottery wins and demands advance government tax transfer via UPI.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SCAMGRAPH AI • TRACK 2: AI-DRIVEN SCAM PATTERN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07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Workflow Content Deep-Dive: KYC Fraud &amp; Reverse UPI Scams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43F5E"/>
                </a:solidFill>
              </a:defRPr>
            </a:pPr>
            <a:r>
              <a:t>PLAYBOOK 1: KYC ACCOUNT TAKEOVER WORKFLOW (#UPI-KYC-042)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846320"/>
                <a:gridCol w="2286000"/>
                <a:gridCol w="2286000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Workflow Stage</a:t>
                      </a:r>
                    </a:p>
                  </a:txBody>
                  <a:tcPr anchor="ctr">
                    <a:solidFill>
                      <a:srgbClr val="4C0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Actual Scammer Content (English / Hinglish)</a:t>
                      </a:r>
                    </a:p>
                  </a:txBody>
                  <a:tcPr anchor="ctr">
                    <a:solidFill>
                      <a:srgbClr val="4C0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Extracted Signals</a:t>
                      </a:r>
                    </a:p>
                  </a:txBody>
                  <a:tcPr anchor="ctr">
                    <a:solidFill>
                      <a:srgbClr val="4C0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Engine State &amp; Risk</a:t>
                      </a:r>
                    </a:p>
                  </a:txBody>
                  <a:tcPr anchor="ctr">
                    <a:solidFill>
                      <a:srgbClr val="4C051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Stage 1: Threat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'Dear SBI Customer, your YONO account is suspended due to pending KYC.'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kyc_request, threat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Stage 1 Matched (Risk: 48)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Stage 2: Link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'Aapka khata band ho jayega. Click http://sbi-kyc-verify.xyz to update PAN.'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urgency, suspicious_url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Stage 3 Matched (Risk: 76)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Stage 3: Harvest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'Enter your NetBanking Username, Password &amp; Date of Birth on portal.'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credential_request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Stage 4 Matched (Risk: 86)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Stage 4: OTP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'Share the 6-digit high-security OTP sent to your mobile to restore access.'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otp_request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43F5E"/>
                          </a:solidFill>
                        </a:defRPr>
                      </a:pPr>
                      <a:r>
                        <a:t>WORKFLOW DETECTED (91/100)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7947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PLAYBOOK 2: REVERSE UPI COLLECT / REFUND TRAP (#UPI-COLLECT-019)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1148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846320"/>
                <a:gridCol w="2286000"/>
                <a:gridCol w="2286000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B1120"/>
                          </a:solidFill>
                        </a:defRPr>
                      </a:pPr>
                      <a:r>
                        <a:t>Workflow Stage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B1120"/>
                          </a:solidFill>
                        </a:defRPr>
                      </a:pPr>
                      <a:r>
                        <a:t>Actual Scammer Content (English / Hinglish)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B1120"/>
                          </a:solidFill>
                        </a:defRPr>
                      </a:pPr>
                      <a:r>
                        <a:t>Extracted Signals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B1120"/>
                          </a:solidFill>
                        </a:defRPr>
                      </a:pPr>
                      <a:r>
                        <a:t>Engine State &amp; Risk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Stage 1: Lure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'You have won a PhonePe cashback scratch card of ₹4,999! Claim now.'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reward_lure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Stage 1 Matched (Risk: 42)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Stage 2: Collect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'Bhai maine galti se ₹5,000 bhej diye, approve collect link: http://upi-claim.in'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payment_request, url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Stage 2 Matched (Risk: 68)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Stage 3: Urgency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'Cashback link expires in 10 minutes. Open Google Pay immediately.'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urgency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Stage 3 Matched (Risk: 78)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Stage 4: PIN Trap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'Paise account mein receive karne ke liye QR scan karein aur 6-digit UPI PIN dalein.'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otp_request, upi_pin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43F5E"/>
                          </a:solidFill>
                        </a:defRPr>
                      </a:pPr>
                      <a:r>
                        <a:t>WORKFLOW DETECTED (93/100)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SCAMGRAPH AI • TRACK 2: AI-DRIVEN SCAM PATTERN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08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Workflow Content Deep-Dive: Digital Arrest &amp; Electricity Scams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PLAYBOOK 3: LAW ENFORCEMENT DIGITAL ARREST EXTORTION (#CYBER-ARREST-104)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846320"/>
                <a:gridCol w="2286000"/>
                <a:gridCol w="2286000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Workflow Stage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Actual Scammer Content (Call / Chat Transcript)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Extracted Signals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Engine State &amp; Risk</a:t>
                      </a:r>
                    </a:p>
                  </a:txBody>
                  <a:tcPr anchor="ctr">
                    <a:solidFill>
                      <a:srgbClr val="A855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Stage 1: Authority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'This is Inspector Rajesh Kumar from Mumbai Cyber Crime / CBI Headquarters.'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impersonation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Stage 1 Matched (Risk: 52)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Stage 2: Contraband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'A FedEx parcel in your name containing 5 passports &amp; 160g MDMA drugs was seized.'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threat, contraband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Stage 2 Matched (Risk: 79)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Stage 3: Isolation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'Non-bailable warrant issued on your Aadhaar. Stay on Skype video call under Digital Arrest.'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urgency, arrest_threat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Stage 4 Matched (Risk: 90)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Stage 4: Escrow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'Transfer all funds to RBI Safety Escrow Account for audit to prove innocence.'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payment_request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43F5E"/>
                          </a:solidFill>
                        </a:defRPr>
                      </a:pPr>
                      <a:r>
                        <a:t>WORKFLOW DETECTED (98/100)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7947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PLAYBOOK 4: NIGHT ELECTRICITY DISCONNECTION PANIC (#ELEC-DISCONN-019)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1148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846320"/>
                <a:gridCol w="2286000"/>
                <a:gridCol w="2286000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B1120"/>
                          </a:solidFill>
                        </a:defRPr>
                      </a:pPr>
                      <a:r>
                        <a:t>Workflow Stage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B1120"/>
                          </a:solidFill>
                        </a:defRPr>
                      </a:pPr>
                      <a:r>
                        <a:t>Actual Scammer Content (English / Hinglish)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B1120"/>
                          </a:solidFill>
                        </a:defRPr>
                      </a:pPr>
                      <a:r>
                        <a:t>Extracted Signals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50" b="1">
                          <a:solidFill>
                            <a:srgbClr val="0B1120"/>
                          </a:solidFill>
                        </a:defRPr>
                      </a:pPr>
                      <a:r>
                        <a:t>Engine State &amp; Risk</a:t>
                      </a:r>
                    </a:p>
                  </a:txBody>
                  <a:tcPr anchor="ctr">
                    <a:solidFill>
                      <a:srgbClr val="38BD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Stage 1: Outage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'Dear Consumer, aapki bijli aaj raat 9:30 baje sub-station se kaat di jayegi.'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threat, utility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Stage 1 Matched (Risk: 55)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Stage 2: Urgency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'Previous month bill was not updated. Only 1 hour remaining before disconnection.'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urgency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Stage 2 Matched (Risk: 70)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Stage 3: Fake SDO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'Immediately contact Electricity SDO Officer Sharma at +91-9876543210.'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phone_contact, impersonation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Stage 3 Matched (Risk: 83)</a:t>
                      </a:r>
                    </a:p>
                  </a:txBody>
                  <a:tcPr anchor="ctr">
                    <a:solidFill>
                      <a:srgbClr val="131C3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38BDF8"/>
                          </a:solidFill>
                        </a:defRPr>
                      </a:pPr>
                      <a:r>
                        <a:t>Stage 4: APK/Fee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</a:defRPr>
                      </a:pPr>
                      <a:r>
                        <a:t>'Pay ₹10 meter update charge at http://bses-portal.in and share SMS OTP.'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F59E0B"/>
                          </a:solidFill>
                        </a:defRPr>
                      </a:pPr>
                      <a:r>
                        <a:t>payment, url, otp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1">
                          <a:solidFill>
                            <a:srgbClr val="F43F5E"/>
                          </a:solidFill>
                        </a:defRPr>
                      </a:pPr>
                      <a:r>
                        <a:t>WORKFLOW DETECTED (92/100)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SCAMGRAPH AI • TRACK 2: AI-DRIVEN SCAM PATTERN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09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Predictive Workflow Engine: Stopping Scams Mid-Flight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29260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25880"/>
            <a:ext cx="497433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Partial-Order Sequence Alignment Math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Why Partial Matching? </a:t>
            </a:r>
            <a:r>
              <a:rPr sz="1100">
                <a:solidFill>
                  <a:srgbClr val="E2E8F0"/>
                </a:solidFill>
              </a:rPr>
              <a:t>Users rarely paste all 6 steps at once. We must detect the workflow when only 2 or 3 events have occurred.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Overlap Ratio: </a:t>
            </a:r>
            <a:r>
              <a:rPr sz="1100">
                <a:solidFill>
                  <a:srgbClr val="38BDF8"/>
                </a:solidFill>
              </a:rPr>
              <a:t>|Detected_Events ∩ Playbook_Steps| / |Playbook_Steps|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Category Synergy Bonus: </a:t>
            </a:r>
            <a:r>
              <a:rPr sz="1100">
                <a:solidFill>
                  <a:srgbClr val="E2E8F0"/>
                </a:solidFill>
              </a:rPr>
              <a:t>+0.20 boost when ML classifier category aligns with the playbook category.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Formula: </a:t>
            </a:r>
            <a:r>
              <a:rPr sz="1100">
                <a:solidFill>
                  <a:srgbClr val="10B981"/>
                </a:solidFill>
              </a:rPr>
              <a:t>Confidence = min(0.99, 0.50 + 0.45 * Overlap + Category_Bonus)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94960" cy="292608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25880"/>
            <a:ext cx="506577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Example: Partial Match at Stage 3 (82% Confidence)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Observed Events: </a:t>
            </a:r>
            <a:r>
              <a:rPr sz="1100">
                <a:solidFill>
                  <a:srgbClr val="FFFFFF"/>
                </a:solidFill>
              </a:rPr>
              <a:t>[KYC_WARNING]  ➔  [URGENCY]  ➔  [EXTERNAL_LINK]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Missing Future Events: </a:t>
            </a:r>
            <a:r>
              <a:rPr sz="1100">
                <a:solidFill>
                  <a:srgbClr val="94A3B8"/>
                </a:solidFill>
              </a:rPr>
              <a:t>[CREDENTIAL_REQUEST]  ➔  [OTP_REQUEST]  ➔  [DRAIN]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Classification: </a:t>
            </a:r>
            <a:r>
              <a:rPr sz="1100">
                <a:solidFill>
                  <a:srgbClr val="F59E0B"/>
                </a:solidFill>
              </a:rPr>
              <a:t>Potential KYC Scam Workflow — 82% Confidence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Next Move Prediction: </a:t>
            </a:r>
            <a:r>
              <a:rPr sz="1100">
                <a:solidFill>
                  <a:srgbClr val="10B981"/>
                </a:solidFill>
              </a:rPr>
              <a:t>'Attacker will attempt Credential &amp; OTP Harvesting next. Do not open link.'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LIVE STAGE PROGRESSION TRACKER (OBSERVED VS. PREDICTED ATTACKER MOVES)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09160"/>
            <a:ext cx="1691640" cy="137160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✓ OBSERVED</a:t>
            </a:r>
          </a:p>
          <a:p>
            <a:br/>
            <a:pPr algn="ctr">
              <a:defRPr sz="1050" b="1">
                <a:solidFill>
                  <a:srgbClr val="FFFFFF"/>
                </a:solidFill>
              </a:defRPr>
            </a:pPr>
            <a:r>
              <a:t>Stage 1: KYC Warning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4709160"/>
            <a:ext cx="1691640" cy="137160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✓ OBSERVED</a:t>
            </a:r>
          </a:p>
          <a:p>
            <a:br/>
            <a:pPr algn="ctr">
              <a:defRPr sz="1050" b="1">
                <a:solidFill>
                  <a:srgbClr val="FFFFFF"/>
                </a:solidFill>
              </a:defRPr>
            </a:pPr>
            <a:r>
              <a:t>Stage 2: Urgency Threat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4709160"/>
            <a:ext cx="1691640" cy="137160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✓ CURRENT STAGE</a:t>
            </a:r>
          </a:p>
          <a:p>
            <a:br/>
            <a:pPr algn="ctr">
              <a:defRPr sz="1050" b="1">
                <a:solidFill>
                  <a:srgbClr val="FFFFFF"/>
                </a:solidFill>
              </a:defRPr>
            </a:pPr>
            <a:r>
              <a:t>Stage 3: Phishing Link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199" y="4709160"/>
            <a:ext cx="1691640" cy="1371600"/>
          </a:xfrm>
          <a:prstGeom prst="roundRect">
            <a:avLst/>
          </a:prstGeom>
          <a:solidFill>
            <a:srgbClr val="4C0519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43F5E"/>
                </a:solidFill>
              </a:defRPr>
            </a:pPr>
            <a:r>
              <a:t>⚡ PREDICTED NEXT</a:t>
            </a:r>
          </a:p>
          <a:p>
            <a:br/>
            <a:pPr algn="ctr">
              <a:defRPr sz="1050" b="1">
                <a:solidFill>
                  <a:srgbClr val="FFFFFF"/>
                </a:solidFill>
              </a:defRPr>
            </a:pPr>
            <a:r>
              <a:t>Stage 4: Credential Input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4709160"/>
            <a:ext cx="1691640" cy="1371600"/>
          </a:xfrm>
          <a:prstGeom prst="roundRect">
            <a:avLst/>
          </a:prstGeom>
          <a:solidFill>
            <a:srgbClr val="131C31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⚡ PREDICTED</a:t>
            </a:r>
          </a:p>
          <a:p>
            <a:br/>
            <a:pPr algn="ctr">
              <a:defRPr sz="1050" b="1">
                <a:solidFill>
                  <a:srgbClr val="FFFFFF"/>
                </a:solidFill>
              </a:defRPr>
            </a:pPr>
            <a:r>
              <a:t>Stage 5: OTP Theft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21240" y="4709160"/>
            <a:ext cx="1691640" cy="1371600"/>
          </a:xfrm>
          <a:prstGeom prst="roundRect">
            <a:avLst/>
          </a:prstGeom>
          <a:solidFill>
            <a:srgbClr val="131C31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🛑 PREVENTED</a:t>
            </a:r>
          </a:p>
          <a:p>
            <a:br/>
            <a:pPr algn="ctr">
              <a:defRPr sz="1050" b="1">
                <a:solidFill>
                  <a:srgbClr val="FFFFFF"/>
                </a:solidFill>
              </a:defRPr>
            </a:pPr>
            <a:r>
              <a:t>Stage 6: Account Drain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SCAMGRAPH AI • TRACK 2: AI-DRIVEN SCAM PATTERN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10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Scam DNA Fingerprinting &amp; Emerging Pattern Discovery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25880"/>
            <a:ext cx="497433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Scam DNA: Semantic Campaign Fingerprinting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The Problem: </a:t>
            </a:r>
            <a:r>
              <a:rPr sz="1100">
                <a:solidFill>
                  <a:srgbClr val="E2E8F0"/>
                </a:solidFill>
              </a:rPr>
              <a:t>Scammers mutate bank names (SBI -&gt; HDFC) and URLs every hour to bypass hash filters.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Our Solution: </a:t>
            </a:r>
            <a:r>
              <a:rPr sz="1100">
                <a:solidFill>
                  <a:srgbClr val="E2E8F0"/>
                </a:solidFill>
              </a:rPr>
              <a:t>We encode messages using SentenceTransformer ('all-MiniLM-L6-v2') + structural signal vectors.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Variant A: </a:t>
            </a:r>
            <a:r>
              <a:rPr sz="1050">
                <a:solidFill>
                  <a:srgbClr val="38BDF8"/>
                </a:solidFill>
              </a:rPr>
              <a:t>'Your SBI KYC will expire today. Update now.'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Variant B: </a:t>
            </a:r>
            <a:r>
              <a:rPr sz="1050">
                <a:solidFill>
                  <a:srgbClr val="38BDF8"/>
                </a:solidFill>
              </a:rPr>
              <a:t>'Dear customer, your bank KYC is pending. Verify immediately.'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Variant C (Hinglish): </a:t>
            </a:r>
            <a:r>
              <a:rPr sz="1050">
                <a:solidFill>
                  <a:srgbClr val="38BDF8"/>
                </a:solidFill>
              </a:rPr>
              <a:t>'Aapka SBI account block ho jayega, KYC update karein.'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Shared Fingerprint: </a:t>
            </a:r>
            <a:r>
              <a:rPr sz="1100">
                <a:solidFill>
                  <a:srgbClr val="10B981"/>
                </a:solidFill>
              </a:rPr>
              <a:t>All 3 resolve to Scam DNA: #UPI-KYC-042 (Cosine Sim &gt; 0.78)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94960" cy="22860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25880"/>
            <a:ext cx="506577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Unsupervised Emerging Discovery (DBSCAN)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Incident Vector: </a:t>
            </a:r>
            <a:r>
              <a:rPr sz="1050">
                <a:solidFill>
                  <a:srgbClr val="E2E8F0"/>
                </a:solidFill>
              </a:rPr>
              <a:t>[Embedding + Category + Signals + Workflow + Timestamp]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Density Clustering: </a:t>
            </a:r>
            <a:r>
              <a:rPr sz="1050">
                <a:solidFill>
                  <a:srgbClr val="E2E8F0"/>
                </a:solidFill>
              </a:rPr>
              <a:t>DBSCAN groups unknown scam waves without requiring pre-labeled classes.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Growth Alert: </a:t>
            </a:r>
            <a:r>
              <a:rPr sz="1050">
                <a:solidFill>
                  <a:srgbClr val="F59E0B"/>
                </a:solidFill>
              </a:rPr>
              <a:t>Clusters growing &gt;30% WoW trigger '⚠️ Emerging Scam Pattern Detected'.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57600"/>
            <a:ext cx="2651760" cy="123444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3794760"/>
            <a:ext cx="232257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#UPI-KYC-042 (CRITICAL)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YONO / Bank KYC APK Wave</a:t>
            </a:r>
            <a:br/>
            <a:r>
              <a:t>117 Reports  •  +64% this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3657600"/>
            <a:ext cx="2651760" cy="123444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5712" y="3794760"/>
            <a:ext cx="232257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#ELEC-DISCONN-019 (HIGH)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Night Power Outage Scam</a:t>
            </a:r>
            <a:br/>
            <a:r>
              <a:t>83 Reports  •  +41% this week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983480"/>
            <a:ext cx="2651760" cy="123444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5120640"/>
            <a:ext cx="232257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#CYBER-ARREST-104 (CRITICAL)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FedEx / CBI Digital Arrest</a:t>
            </a:r>
            <a:br/>
            <a:r>
              <a:t>64 Reports  •  +78% this week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4983480"/>
            <a:ext cx="2651760" cy="123444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2" y="5120640"/>
            <a:ext cx="232257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#TASK-JOB-088 (HIGH)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Telegram YouTube Like Tasks</a:t>
            </a:r>
            <a:br/>
            <a:r>
              <a:t>142 Reports  •  +55% this week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SCAMGRAPH AI • TRACK 2: AI-DRIVEN SCAM PATTERN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11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Machine Learning Pipeline &amp; Real Test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6035040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25880"/>
            <a:ext cx="57058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Trained Model Architecture &amp; Dataset Splits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Multilingual Architecture: </a:t>
            </a:r>
            <a:r>
              <a:rPr sz="1050">
                <a:solidFill>
                  <a:srgbClr val="E2E8F0"/>
                </a:solidFill>
              </a:rPr>
              <a:t>Google MuRIL ('google/muril-base-cased') + Dual TF-IDF FeatureUnion (Word 1-2 + Char 2-5 subwords) with Sigmoid Platt Calibration.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Authentic Dataset: </a:t>
            </a:r>
            <a:r>
              <a:rPr sz="1050">
                <a:solidFill>
                  <a:srgbClr val="E2E8F0"/>
                </a:solidFill>
              </a:rPr>
              <a:t>276 unique curated Indian scam &amp; benign samples (80.4% English, 19.6% Hinglish) across 13 categories.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Stratified Splits: </a:t>
            </a:r>
            <a:r>
              <a:rPr sz="1050">
                <a:solidFill>
                  <a:srgbClr val="38BDF8"/>
                </a:solidFill>
              </a:rPr>
              <a:t>70% Train (193 rows) • 15% Validation (41 rows) • 15% Held-Out Test (42 rows).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Test Recall (Fraud Capture): </a:t>
            </a:r>
            <a:r>
              <a:rPr sz="1100">
                <a:solidFill>
                  <a:srgbClr val="10B981"/>
                </a:solidFill>
              </a:rPr>
              <a:t>100.00% — Zero false negatives on held-out test set.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Test Precision: </a:t>
            </a:r>
            <a:r>
              <a:rPr sz="1100">
                <a:solidFill>
                  <a:srgbClr val="10B981"/>
                </a:solidFill>
              </a:rPr>
              <a:t>96.43% — Minimal false alarms on legitimate bank alerts.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Test F1 Score: </a:t>
            </a:r>
            <a:r>
              <a:rPr sz="1100">
                <a:solidFill>
                  <a:srgbClr val="FFFFFF"/>
                </a:solidFill>
              </a:rPr>
              <a:t>98.18%  |  ROC-AUC: 1.0000  |  Accuracy: 97.62%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FFFFFF"/>
                </a:solidFill>
              </a:rPr>
              <a:t>13 Category Head: </a:t>
            </a:r>
            <a:r>
              <a:rPr sz="1000">
                <a:solidFill>
                  <a:srgbClr val="E2E8F0"/>
                </a:solidFill>
              </a:rPr>
              <a:t>87.80% Validation Accuracy across KYC, UPI, OTP, Phishing, Banking, Job, Loan, Lottery, Electricity, Investment, Digital Arrest, Impersonation, Other.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188720"/>
            <a:ext cx="4754880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22592" y="1325880"/>
            <a:ext cx="442569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Held-Out Test Confusion Matrix</a:t>
            </a:r>
          </a:p>
        </p:txBody>
      </p:sp>
      <p:pic>
        <p:nvPicPr>
          <p:cNvPr id="11" name="Picture 10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783080"/>
            <a:ext cx="41148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SCAMGRAPH AI • TRACK 2: AI-DRIVEN SCAM PATTERN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12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Alert Fatigue Prevention &amp; Explainable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2606040" cy="17373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25880"/>
            <a:ext cx="22768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LOW (0–29)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Passive Monitoring</a:t>
            </a:r>
          </a:p>
          <a:p>
            <a:br/>
            <a:pPr>
              <a:defRPr sz="950">
                <a:solidFill>
                  <a:srgbClr val="E2E8F0"/>
                </a:solidFill>
              </a:defRPr>
            </a:pPr>
            <a:r>
              <a:t>No interruption. Shown as verified or normal message.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188720"/>
            <a:ext cx="2606040" cy="17373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325880"/>
            <a:ext cx="22768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MEDIUM (30–59)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Advisory Caution</a:t>
            </a:r>
          </a:p>
          <a:p>
            <a:br/>
            <a:pPr>
              <a:defRPr sz="950">
                <a:solidFill>
                  <a:srgbClr val="E2E8F0"/>
                </a:solidFill>
              </a:defRPr>
            </a:pPr>
            <a:r>
              <a:t>'Be careful before interacting. Verify sender independently.'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2606040" cy="17373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325880"/>
            <a:ext cx="22768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HIGH (60–79)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Strong Warning</a:t>
            </a:r>
          </a:p>
          <a:p>
            <a:br/>
            <a:pPr>
              <a:defRPr sz="950">
                <a:solidFill>
                  <a:srgbClr val="E2E8F0"/>
                </a:solidFill>
              </a:defRPr>
            </a:pPr>
            <a:r>
              <a:t>'Multiple scam indicators &amp; partial workflow detected.'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188720"/>
            <a:ext cx="2606040" cy="17373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17152" y="1325880"/>
            <a:ext cx="22768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CRITICAL (80–100)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Blocking Intervention</a:t>
            </a:r>
          </a:p>
          <a:p>
            <a:br/>
            <a:pPr>
              <a:defRPr sz="950">
                <a:solidFill>
                  <a:srgbClr val="E2E8F0"/>
                </a:solidFill>
              </a:defRPr>
            </a:pPr>
            <a:r>
              <a:t>'STOP — Active multi-stage financial scam workflow.'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303520" cy="31089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337560"/>
            <a:ext cx="497433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Campaign Deduplication (Anti-Fatigue)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The Nuisance Problem: </a:t>
            </a:r>
            <a:r>
              <a:rPr sz="1100">
                <a:solidFill>
                  <a:srgbClr val="E2E8F0"/>
                </a:solidFill>
              </a:rPr>
              <a:t>Victims often receive 5 identical SMS messages from different numbers in 10 minutes.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Scam DNA Suppression: </a:t>
            </a:r>
            <a:r>
              <a:rPr sz="1100">
                <a:solidFill>
                  <a:srgbClr val="E2E8F0"/>
                </a:solidFill>
              </a:rPr>
              <a:t>Instead of firing 5 separate blocking popups, ScamGraph AI matches the Scam DNA (#UPI-KYC-042) and groups them: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Grouped Banner: </a:t>
            </a:r>
            <a:r>
              <a:rPr sz="1100">
                <a:solidFill>
                  <a:srgbClr val="10B981"/>
                </a:solidFill>
              </a:rPr>
              <a:t>'🛡️ 118 similar messages detected from active campaign (#UPI-KYC-042).'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200400"/>
            <a:ext cx="5394960" cy="310896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3337560"/>
            <a:ext cx="506577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Explainable AI Output Structure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Risk Score: </a:t>
            </a:r>
            <a:r>
              <a:rPr sz="1100">
                <a:solidFill>
                  <a:srgbClr val="F43F5E"/>
                </a:solidFill>
              </a:rPr>
              <a:t>91 / 100 — CRITICAL RISK (KYC Fraud)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Why? (Evidence): </a:t>
            </a:r>
            <a:r>
              <a:rPr sz="1050">
                <a:solidFill>
                  <a:srgbClr val="E2E8F0"/>
                </a:solidFill>
              </a:rPr>
              <a:t>✓ Account freeze threat  ✓ Urgency pressure  ✓ Brand typosquatting URL (sbi-kyc-verify.xyz)  ✓ Requests OTP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Actionable Advice: </a:t>
            </a:r>
            <a:r>
              <a:rPr sz="1050">
                <a:solidFill>
                  <a:srgbClr val="10B981"/>
                </a:solidFill>
              </a:rPr>
              <a:t>'Do NOT click the verification link or share your OTP. Open your bank's official YONO app directly.'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SCAMGRAPH AI • TRACK 2: AI-DRIVEN SCAM PATTERN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13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Interactive Scam Graph: Visual Attack Topology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029200" cy="566928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[SENDER NODE]   +91-9823419821 (Unknown Origin)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74650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↓ SENT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29968"/>
            <a:ext cx="5029200" cy="566928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[PAYLOAD NODE]   'Dear SBI Customer, KYC suspended...'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58775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↓ CONTAINS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71216"/>
            <a:ext cx="5029200" cy="566928"/>
          </a:xfrm>
          <a:prstGeom prst="roundRect">
            <a:avLst/>
          </a:prstGeom>
          <a:solidFill>
            <a:srgbClr val="4C0519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[PHISHING URL NODE]   http://sbi-kyc-update.xyz/login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4290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↓ LINKS_TO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12464"/>
            <a:ext cx="5029200" cy="566928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[IMPERSONATED DOMAIN]   Fake Bank Portal (.xyz TLD)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2702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↓ USES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53712"/>
            <a:ext cx="5029200" cy="566928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[WORKFLOW STAGE NODE]   Credential &amp; OTP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111496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↓ MATCHES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60"/>
            <a:ext cx="5029200" cy="566928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[SCAM DNA &amp; CATEGORY]   #UPI-KYC-042  ➔  KYC Fraud Category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5394960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1325880"/>
            <a:ext cx="506577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Why Graph Topology Matters for Security Teams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1. Powered by React Flow 12: </a:t>
            </a:r>
            <a:r>
              <a:rPr sz="1100">
                <a:solidFill>
                  <a:srgbClr val="E2E8F0"/>
                </a:solidFill>
              </a:rPr>
              <a:t>Interactive pan, zoom, animated edges, and live node attribute inspection.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2. Entity-Relationship Mapping: </a:t>
            </a:r>
            <a:r>
              <a:rPr sz="1100">
                <a:solidFill>
                  <a:srgbClr val="E2E8F0"/>
                </a:solidFill>
              </a:rPr>
              <a:t>Connects Phone Numbers, Messages, URLs, Domains, UPI Handles, Scam DNA, and Categories.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3. Fraud Ring Attribution: </a:t>
            </a:r>
            <a:r>
              <a:rPr sz="1100">
                <a:solidFill>
                  <a:srgbClr val="E2E8F0"/>
                </a:solidFill>
              </a:rPr>
              <a:t>Reveals when 50 different phone numbers link to the exact same UPI ID or phishing domain.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FFFFFF"/>
                </a:solidFill>
              </a:rPr>
              <a:t>4. One-Click Investigation: </a:t>
            </a:r>
            <a:r>
              <a:rPr sz="1100">
                <a:solidFill>
                  <a:srgbClr val="E2E8F0"/>
                </a:solidFill>
              </a:rPr>
              <a:t>Security analysts click any node to inspect its TLD flags, protocol status, and campaign history.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SCAMGRAPH AI • TRACK 2: AI-DRIVEN SCAM PATTERN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14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Live Demo Story: Watching a Scam Workflow Unfold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11064240" cy="896112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STEP 1: SUSPICIOUS THREAT   |   Input: 'Your bank KYC will expire today. Update immediately.'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System Response:  Detects urgency &amp; account threat signals -&gt; Risk: 52 (MEDIUM)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12848"/>
            <a:ext cx="11064240" cy="896112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STEP 2: PHISHING URL ADDED   |   Input: Adds link: 'http://sbi-kyc-verify.xyz/login'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System Response:  URL Analyzer flags .xyz TLD, HTTP, &amp; SBI impersonation -&gt; Risk: 76 (HIGH)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36976"/>
            <a:ext cx="11064240" cy="896112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3F5E"/>
                </a:solidFill>
              </a:defRPr>
            </a:pPr>
            <a:r>
              <a:t>STEP 3: OTP HARVEST ADDED   |   Input: Adds: 'Enter PAN and share 6-digit OTP to verify.'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System Response:  Workflow Engine aligns 4 stages of KYC Playbook -&gt; Risk: 88 (CRITICAL)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61104"/>
            <a:ext cx="11064240" cy="896112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43F5E"/>
                </a:solidFill>
              </a:defRPr>
            </a:pPr>
            <a:r>
              <a:t>STEP 4: WORKFLOW DETECTED   |   Input: Full multi-step attack + ₹1 UPI mandate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System Response:  Triggers SCAM WORKFLOW DETECTED (91/100) + Scam DNA: #UPI-KYC-042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85232"/>
            <a:ext cx="11064240" cy="896112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STEP 5: EMERGING CLUSTER   |   Input: Opens Emerging Patterns &amp; Scam Graph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System Response:  Displays 117 linked reports (+64% weekly growth) &amp; full React Flow graph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SCAMGRAPH AI • TRACK 2: AI-DRIVEN SCAM PATTERN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286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</a:defRPr>
            </a:pPr>
            <a:r>
              <a:t>15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Privacy by Design, Deployment &amp; Future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3474720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25880"/>
            <a:ext cx="314553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1. Security &amp; Privacy Core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Auto PII Redaction: </a:t>
            </a:r>
            <a:r>
              <a:rPr sz="1050">
                <a:solidFill>
                  <a:srgbClr val="E2E8F0"/>
                </a:solidFill>
              </a:rPr>
              <a:t>Masks 16-digit cards, CVVs, passwords, and OTPs in-memory before logging.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Identifier Hashing: </a:t>
            </a:r>
            <a:r>
              <a:rPr sz="1050">
                <a:solidFill>
                  <a:srgbClr val="E2E8F0"/>
                </a:solidFill>
              </a:rPr>
              <a:t>Sender numbers &amp; contacts hashed via SHA-256 / UUID5.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Zero Raw Archival: </a:t>
            </a:r>
            <a:r>
              <a:rPr sz="1050">
                <a:solidFill>
                  <a:srgbClr val="E2E8F0"/>
                </a:solidFill>
              </a:rPr>
              <a:t>Stores only redacted previews &amp; signal vectors.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One-Click Purge: </a:t>
            </a:r>
            <a:r>
              <a:rPr sz="1050">
                <a:solidFill>
                  <a:srgbClr val="E2E8F0"/>
                </a:solidFill>
              </a:rPr>
              <a:t>DELETE /api/incidents/clear wipes local history immediately.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188720"/>
            <a:ext cx="3474720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325880"/>
            <a:ext cx="314553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Production Stack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Backend: </a:t>
            </a:r>
            <a:r>
              <a:rPr sz="1050">
                <a:solidFill>
                  <a:srgbClr val="E2E8F0"/>
                </a:solidFill>
              </a:rPr>
              <a:t>FastAPI + SQLAlchemy (SQLite / PostgreSQL) + Pytest (7/7 Passing).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Frontend: </a:t>
            </a:r>
            <a:r>
              <a:rPr sz="1050">
                <a:solidFill>
                  <a:srgbClr val="E2E8F0"/>
                </a:solidFill>
              </a:rPr>
              <a:t>React 18 + Vite + Tailwind CSS + Recharts + React Flow 12.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ML Stack: </a:t>
            </a:r>
            <a:r>
              <a:rPr sz="1050">
                <a:solidFill>
                  <a:srgbClr val="E2E8F0"/>
                </a:solidFill>
              </a:rPr>
              <a:t>PyTorch + Transformers (MuRIL) + Scikit-Learn + SentenceTransformers.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Dockerized: </a:t>
            </a:r>
            <a:r>
              <a:rPr sz="1050">
                <a:solidFill>
                  <a:srgbClr val="E2E8F0"/>
                </a:solidFill>
              </a:rPr>
              <a:t>Multi-container docker-compose.yml with Nginx reverse proxy.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5029200"/>
          </a:xfrm>
          <a:prstGeom prst="roundRect">
            <a:avLst/>
          </a:prstGeom>
          <a:solidFill>
            <a:srgbClr val="131C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325880"/>
            <a:ext cx="314553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3. Future Impact &amp; Scale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Banking SDK: </a:t>
            </a:r>
            <a:r>
              <a:rPr sz="1050">
                <a:solidFill>
                  <a:srgbClr val="E2E8F0"/>
                </a:solidFill>
              </a:rPr>
              <a:t>Pre-transaction warning hook inside UPI &amp; NetBanking apps.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Live Call Audio: </a:t>
            </a:r>
            <a:r>
              <a:rPr sz="1050">
                <a:solidFill>
                  <a:srgbClr val="E2E8F0"/>
                </a:solidFill>
              </a:rPr>
              <a:t>Real-time Indic speech-to-text stream interception for Digital Arrest calls.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1930 Cyber Crime Sync: </a:t>
            </a:r>
            <a:r>
              <a:rPr sz="1050">
                <a:solidFill>
                  <a:srgbClr val="E2E8F0"/>
                </a:solidFill>
              </a:rPr>
              <a:t>Automated Scam DNA feed for national takedowns.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FFFFFF"/>
                </a:solidFill>
              </a:rPr>
              <a:t>GitHub Repo: </a:t>
            </a:r>
            <a:r>
              <a:rPr sz="1050">
                <a:solidFill>
                  <a:srgbClr val="10B981"/>
                </a:solidFill>
              </a:rPr>
              <a:t>github.com/Nishkarsh807/scamgraph-ai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