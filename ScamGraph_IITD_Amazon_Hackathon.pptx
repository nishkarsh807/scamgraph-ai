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1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47923" cy="54864"/>
          </a:xfrm>
          <a:prstGeom prst="rect">
            <a:avLst/>
          </a:prstGeom>
          <a:solidFill>
            <a:srgbClr val="C8B6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3" y="0"/>
            <a:ext cx="3047923" cy="54864"/>
          </a:xfrm>
          <a:prstGeom prst="rect">
            <a:avLst/>
          </a:prstGeom>
          <a:solidFill>
            <a:srgbClr val="88B8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847" y="0"/>
            <a:ext cx="3047923" cy="54864"/>
          </a:xfrm>
          <a:prstGeom prst="rect">
            <a:avLst/>
          </a:prstGeom>
          <a:solidFill>
            <a:srgbClr val="C6A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771" y="0"/>
            <a:ext cx="3047923" cy="54864"/>
          </a:xfrm>
          <a:prstGeom prst="rect">
            <a:avLst/>
          </a:prstGeom>
          <a:solidFill>
            <a:srgbClr val="DEC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46920" y="182880"/>
            <a:ext cx="1051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C8B69E"/>
                </a:solidFill>
              </a:defRPr>
            </a:pPr>
            <a:r>
              <a:t>○   △   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771632" y="182880"/>
            <a:ext cx="896112" cy="274320"/>
          </a:xfrm>
          <a:prstGeom prst="roundRect">
            <a:avLst/>
          </a:prstGeom>
          <a:solidFill>
            <a:srgbClr val="2A272E"/>
          </a:solidFill>
          <a:ln>
            <a:solidFill>
              <a:srgbClr val="443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D6C9B8"/>
                </a:solidFill>
              </a:defRPr>
            </a:pPr>
            <a:r>
              <a:t>01 /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01168"/>
            <a:ext cx="4480560" cy="292608"/>
          </a:xfrm>
          <a:prstGeom prst="roundRect">
            <a:avLst/>
          </a:prstGeom>
          <a:solidFill>
            <a:srgbClr val="2A272E"/>
          </a:solidFill>
          <a:ln>
            <a:solidFill>
              <a:srgbClr val="C8B6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C8B69E"/>
                </a:solidFill>
              </a:defRPr>
            </a:pPr>
            <a:r>
              <a:t>IIT DELHI × AMAZON HACKATHON  |  TRACK 2: SCAM PATTERN RECOGNITION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94360"/>
            <a:ext cx="71323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6F2EC"/>
                </a:solidFill>
              </a:defRPr>
            </a:pPr>
            <a:r>
              <a:t>ScamGraph AI</a:t>
            </a:r>
          </a:p>
          <a:p>
            <a:pPr>
              <a:defRPr sz="1500" b="1">
                <a:solidFill>
                  <a:srgbClr val="C8B69E"/>
                </a:solidFill>
              </a:defRPr>
            </a:pPr>
            <a:r>
              <a:t>AI-Driven Scam Pattern Recognition &amp; Connected Workflow Intelligence</a:t>
            </a:r>
          </a:p>
          <a:p>
            <a:pPr>
              <a:defRPr sz="1050">
                <a:solidFill>
                  <a:srgbClr val="D6C9B8"/>
                </a:solidFill>
              </a:defRPr>
            </a:pPr>
            <a:r>
              <a:t>Moving beyond isolated spam filters to detect multi-stage financial fraud across SMS, WhatsApp, URLs, Devices &amp; UPI.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938528"/>
            <a:ext cx="6903720" cy="2971800"/>
          </a:xfrm>
          <a:prstGeom prst="roundRect">
            <a:avLst/>
          </a:prstGeom>
          <a:solidFill>
            <a:srgbClr val="FCF9F5"/>
          </a:solidFill>
          <a:ln w="12700">
            <a:solidFill>
              <a:srgbClr val="C8B6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94360" y="2048256"/>
            <a:ext cx="64008" cy="2752344"/>
          </a:xfrm>
          <a:prstGeom prst="roundRect">
            <a:avLst/>
          </a:prstGeom>
          <a:solidFill>
            <a:srgbClr val="88B8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68096" y="2112264"/>
            <a:ext cx="544068" cy="219456"/>
          </a:xfrm>
          <a:prstGeom prst="roundRect">
            <a:avLst/>
          </a:prstGeom>
          <a:solidFill>
            <a:srgbClr val="88B8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221F26"/>
                </a:solidFill>
              </a:defRPr>
            </a:pPr>
            <a:r>
              <a:t>PROBLEM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3604" y="2084832"/>
            <a:ext cx="58475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21F26"/>
                </a:solidFill>
              </a:defRPr>
            </a:pPr>
            <a:r>
              <a:t>OFFICIAL PROBLEM STATEMENT — TRACK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" y="2377440"/>
            <a:ext cx="6464808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0"/>
              </a:spcAft>
              <a:defRPr sz="1000">
                <a:solidFill>
                  <a:srgbClr val="6C6570"/>
                </a:solidFill>
              </a:defRPr>
            </a:pPr>
            <a:r>
              <a:t>• The Challenge: Modern scammers leverage Generative AI (voice clones, vernacular LLM lures, polymorphic phishing sites) to orchestrate multi-step fraud across SMS, WhatsApp, calls, and UPI.</a:t>
            </a:r>
          </a:p>
          <a:p>
            <a:pPr>
              <a:spcAft>
                <a:spcPts val="350"/>
              </a:spcAft>
              <a:defRPr sz="1000">
                <a:solidFill>
                  <a:srgbClr val="6C6570"/>
                </a:solidFill>
              </a:defRPr>
            </a:pPr>
            <a:r>
              <a:t>• The Blind Spot: Legacy banking fraud systems inspect single messages or isolated transactions in silos—missing the connected storyline linking a harmless-looking KYC text to a ₹1,50,000 account drain.</a:t>
            </a:r>
          </a:p>
          <a:p>
            <a:pPr>
              <a:spcAft>
                <a:spcPts val="350"/>
              </a:spcAft>
              <a:defRPr sz="1000">
                <a:solidFill>
                  <a:srgbClr val="6C6570"/>
                </a:solidFill>
              </a:defRPr>
            </a:pPr>
            <a:r>
              <a:t>• Core Mandate: Build an AI system that (1) detects the complete connected scam workflow, (2) identifies emerging scam patterns via graph + sequence ML, (3) computes calibrated 0–100 risk scores, and (4) delivers explainable, proportional interventions without triggering user alert fatigue.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5074920"/>
            <a:ext cx="1664208" cy="1325880"/>
          </a:xfrm>
          <a:prstGeom prst="roundRect">
            <a:avLst/>
          </a:prstGeom>
          <a:solidFill>
            <a:srgbClr val="2A272E"/>
          </a:solidFill>
          <a:ln w="12700">
            <a:solidFill>
              <a:srgbClr val="C8B6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5212080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6F2EC"/>
                </a:solidFill>
              </a:defRPr>
            </a:pPr>
            <a:r>
              <a:t>01  WORKFLOW ENGINE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5504688"/>
            <a:ext cx="1463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0"/>
              </a:spcAft>
              <a:defRPr sz="880">
                <a:solidFill>
                  <a:srgbClr val="D6C9B8"/>
                </a:solidFill>
              </a:defRPr>
            </a:pPr>
            <a:r>
              <a:t>Connects 6+ cross-channel events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258568" y="5074920"/>
            <a:ext cx="1664208" cy="1325880"/>
          </a:xfrm>
          <a:prstGeom prst="roundRect">
            <a:avLst/>
          </a:prstGeom>
          <a:solidFill>
            <a:srgbClr val="2A272E"/>
          </a:solidFill>
          <a:ln w="12700">
            <a:solidFill>
              <a:srgbClr val="88B8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350008" y="5212080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6F2EC"/>
                </a:solidFill>
              </a:defRPr>
            </a:pPr>
            <a:r>
              <a:t>02  MURIL + GNN ML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50008" y="5504688"/>
            <a:ext cx="1463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0"/>
              </a:spcAft>
              <a:defRPr sz="880">
                <a:solidFill>
                  <a:srgbClr val="D6C9B8"/>
                </a:solidFill>
              </a:defRPr>
            </a:pPr>
            <a:r>
              <a:t>Hinglish NLP + Mule Graph rings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14215" y="5074920"/>
            <a:ext cx="1664208" cy="1325880"/>
          </a:xfrm>
          <a:prstGeom prst="roundRect">
            <a:avLst/>
          </a:prstGeom>
          <a:solidFill>
            <a:srgbClr val="2A272E"/>
          </a:solidFill>
          <a:ln w="12700">
            <a:solidFill>
              <a:srgbClr val="B4C7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05655" y="5212080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6F2EC"/>
                </a:solidFill>
              </a:defRPr>
            </a:pPr>
            <a:r>
              <a:t>03  ZERO FATIGUE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05655" y="5504688"/>
            <a:ext cx="1463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0"/>
              </a:spcAft>
              <a:defRPr sz="880">
                <a:solidFill>
                  <a:srgbClr val="D6C9B8"/>
                </a:solidFill>
              </a:defRPr>
            </a:pPr>
            <a:r>
              <a:t>84% fewer low-value popups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69864" y="5074920"/>
            <a:ext cx="1664208" cy="1325880"/>
          </a:xfrm>
          <a:prstGeom prst="roundRect">
            <a:avLst/>
          </a:prstGeom>
          <a:solidFill>
            <a:srgbClr val="2A272E"/>
          </a:solidFill>
          <a:ln w="12700">
            <a:solidFill>
              <a:srgbClr val="C6A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61304" y="5212080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6F2EC"/>
                </a:solidFill>
              </a:defRPr>
            </a:pPr>
            <a:r>
              <a:t>04  SUB-50MS XAI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61304" y="5504688"/>
            <a:ext cx="1463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0"/>
              </a:spcAft>
              <a:defRPr sz="880">
                <a:solidFill>
                  <a:srgbClr val="D6C9B8"/>
                </a:solidFill>
              </a:defRPr>
            </a:pPr>
            <a:r>
              <a:t>Real-time pre-UPI intervention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589520" y="621792"/>
            <a:ext cx="4096512" cy="2606040"/>
          </a:xfrm>
          <a:prstGeom prst="roundRect">
            <a:avLst/>
          </a:prstGeom>
          <a:solidFill>
            <a:srgbClr val="2A272E"/>
          </a:solidFill>
          <a:ln w="12700">
            <a:solidFill>
              <a:srgbClr val="C8B6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680960" y="731520"/>
            <a:ext cx="64008" cy="2386584"/>
          </a:xfrm>
          <a:prstGeom prst="roundRect">
            <a:avLst/>
          </a:prstGeom>
          <a:solidFill>
            <a:srgbClr val="C8B6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845552" y="795528"/>
            <a:ext cx="699516" cy="219456"/>
          </a:xfrm>
          <a:prstGeom prst="roundRect">
            <a:avLst/>
          </a:prstGeom>
          <a:solidFill>
            <a:srgbClr val="C8B6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221F26"/>
                </a:solidFill>
              </a:defRPr>
            </a:pPr>
            <a:r>
              <a:t>TEAM INFO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36508" y="768096"/>
            <a:ext cx="29032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F6F2EC"/>
                </a:solidFill>
              </a:defRPr>
            </a:pPr>
            <a:r>
              <a:t>TEAM SCAMGRAPH — IIT DELHI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45552" y="1060704"/>
            <a:ext cx="3675888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0"/>
              </a:spcAft>
              <a:defRPr sz="950">
                <a:solidFill>
                  <a:srgbClr val="D6C9B8"/>
                </a:solidFill>
              </a:defRPr>
            </a:pPr>
            <a:r>
              <a:t>• Team Lead &amp; AI Architect: Nishkarsh Singh</a:t>
            </a:r>
          </a:p>
          <a:p>
            <a:pPr>
              <a:spcAft>
                <a:spcPts val="350"/>
              </a:spcAft>
              <a:defRPr sz="950">
                <a:solidFill>
                  <a:srgbClr val="D6C9B8"/>
                </a:solidFill>
              </a:defRPr>
            </a:pPr>
            <a:r>
              <a:t>• Track: FinTech Security, Graph ML &amp; Fraud Intelligence</a:t>
            </a:r>
          </a:p>
          <a:p>
            <a:pPr>
              <a:spcAft>
                <a:spcPts val="350"/>
              </a:spcAft>
              <a:defRPr sz="950">
                <a:solidFill>
                  <a:srgbClr val="D6C9B8"/>
                </a:solidFill>
              </a:defRPr>
            </a:pPr>
            <a:r>
              <a:t>• Tech Stack: PyTorch, MuRIL Transformer, Graph Neural Networks (PyG), FastAPI, React Flow, Docker</a:t>
            </a:r>
          </a:p>
          <a:p>
            <a:pPr>
              <a:spcAft>
                <a:spcPts val="350"/>
              </a:spcAft>
              <a:defRPr sz="950">
                <a:solidFill>
                  <a:srgbClr val="D6C9B8"/>
                </a:solidFill>
              </a:defRPr>
            </a:pPr>
            <a:r>
              <a:t>• Live Prototype: End-to-End Working Platform + Real-Time Workflow Simulator + 100% Test Recall</a:t>
            </a:r>
          </a:p>
          <a:p>
            <a:pPr>
              <a:spcAft>
                <a:spcPts val="350"/>
              </a:spcAft>
              <a:defRPr sz="950">
                <a:solidFill>
                  <a:srgbClr val="D6C9B8"/>
                </a:solidFill>
              </a:defRPr>
            </a:pPr>
            <a:r>
              <a:t>• GitHub: github.com/Nishkarsh807/scamgraph-ai</a:t>
            </a:r>
          </a:p>
        </p:txBody>
      </p:sp>
      <p:pic>
        <p:nvPicPr>
          <p:cNvPr id="33" name="Picture 32" descr="framed_cyb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3401568"/>
            <a:ext cx="4096512" cy="2423160"/>
          </a:xfrm>
          <a:prstGeom prst="rect">
            <a:avLst/>
          </a:prstGeom>
        </p:spPr>
      </p:pic>
      <p:sp>
        <p:nvSpPr>
          <p:cNvPr id="34" name="Rounded Rectangle 33"/>
          <p:cNvSpPr/>
          <p:nvPr/>
        </p:nvSpPr>
        <p:spPr>
          <a:xfrm>
            <a:off x="7589520" y="5897880"/>
            <a:ext cx="4096512" cy="502920"/>
          </a:xfrm>
          <a:prstGeom prst="roundRect">
            <a:avLst/>
          </a:prstGeom>
          <a:solidFill>
            <a:srgbClr val="C8B6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21F26"/>
                </a:solidFill>
              </a:defRPr>
            </a:pPr>
            <a:r>
              <a:t>CORE VISION: Detect the scam journey, not just the final transaction.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47923" cy="54864"/>
          </a:xfrm>
          <a:prstGeom prst="rect">
            <a:avLst/>
          </a:prstGeom>
          <a:solidFill>
            <a:srgbClr val="C8B6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3" y="0"/>
            <a:ext cx="3047923" cy="54864"/>
          </a:xfrm>
          <a:prstGeom prst="rect">
            <a:avLst/>
          </a:prstGeom>
          <a:solidFill>
            <a:srgbClr val="88B8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847" y="0"/>
            <a:ext cx="3047923" cy="54864"/>
          </a:xfrm>
          <a:prstGeom prst="rect">
            <a:avLst/>
          </a:prstGeom>
          <a:solidFill>
            <a:srgbClr val="C6A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771" y="0"/>
            <a:ext cx="3047923" cy="54864"/>
          </a:xfrm>
          <a:prstGeom prst="rect">
            <a:avLst/>
          </a:prstGeom>
          <a:solidFill>
            <a:srgbClr val="DEC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46920" y="182880"/>
            <a:ext cx="1051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C6570"/>
                </a:solidFill>
              </a:defRPr>
            </a:pPr>
            <a:r>
              <a:t>○   △   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771632" y="182880"/>
            <a:ext cx="896112" cy="274320"/>
          </a:xfrm>
          <a:prstGeom prst="roundRect">
            <a:avLst/>
          </a:prstGeom>
          <a:solidFill>
            <a:srgbClr val="E8E0D5"/>
          </a:solidFill>
          <a:ln>
            <a:solidFill>
              <a:srgbClr val="D0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221F26"/>
                </a:solidFill>
              </a:defRPr>
            </a:pPr>
            <a:r>
              <a:t>02 /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2880"/>
            <a:ext cx="438912" cy="274320"/>
          </a:xfrm>
          <a:prstGeom prst="roundRect">
            <a:avLst/>
          </a:prstGeom>
          <a:solidFill>
            <a:srgbClr val="221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6F2EC"/>
                </a:solidFill>
              </a:defRPr>
            </a:pPr>
            <a:r>
              <a:t>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" y="182880"/>
            <a:ext cx="2896819" cy="274320"/>
          </a:xfrm>
          <a:prstGeom prst="roundRect">
            <a:avLst/>
          </a:prstGeom>
          <a:solidFill>
            <a:srgbClr val="E8E0D5"/>
          </a:solidFill>
          <a:ln>
            <a:solidFill>
              <a:srgbClr val="C8B6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221F26"/>
                </a:solidFill>
              </a:defRPr>
            </a:pPr>
            <a:r>
              <a:t>PROBLEM LANDSCAPE &amp; FAILURE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84632"/>
            <a:ext cx="11155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221F26"/>
                </a:solidFill>
              </a:defRPr>
            </a:pPr>
            <a:r>
              <a:t>Why Traditional Fraud Systems Miss AI-Enabled Scam Workflows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877824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6C6570"/>
                </a:solidFill>
              </a:defRPr>
            </a:pPr>
            <a:r>
              <a:t>Scammers operate as cross-channel state machines using GenAI personas, while banks still inspect single events in isolation.</a:t>
            </a:r>
          </a:p>
        </p:txBody>
      </p:sp>
      <p:pic>
        <p:nvPicPr>
          <p:cNvPr id="13" name="Picture 12" descr="framed_mas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61872"/>
            <a:ext cx="3977639" cy="3035808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502920" y="4407408"/>
            <a:ext cx="3977639" cy="2057400"/>
          </a:xfrm>
          <a:prstGeom prst="roundRect">
            <a:avLst/>
          </a:prstGeom>
          <a:solidFill>
            <a:srgbClr val="201E23"/>
          </a:solidFill>
          <a:ln w="12700">
            <a:solidFill>
              <a:srgbClr val="C8B6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94360" y="4517136"/>
            <a:ext cx="64008" cy="1837944"/>
          </a:xfrm>
          <a:prstGeom prst="roundRect">
            <a:avLst/>
          </a:prstGeom>
          <a:solidFill>
            <a:srgbClr val="DB94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68096" y="4581144"/>
            <a:ext cx="502920" cy="219456"/>
          </a:xfrm>
          <a:prstGeom prst="roundRect">
            <a:avLst/>
          </a:prstGeom>
          <a:solidFill>
            <a:srgbClr val="DB94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221F26"/>
                </a:solidFill>
              </a:defRPr>
            </a:pPr>
            <a:r>
              <a:t>THREAT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62456" y="4553712"/>
            <a:ext cx="29626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6F2EC"/>
                </a:solidFill>
              </a:defRPr>
            </a:pPr>
            <a:r>
              <a:t>THE GEN-AI DECEPTION MULTIPLIER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" y="4846320"/>
            <a:ext cx="3538728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0"/>
              </a:spcAft>
              <a:defRPr sz="880">
                <a:solidFill>
                  <a:srgbClr val="D6C9B8"/>
                </a:solidFill>
              </a:defRPr>
            </a:pPr>
            <a:r>
              <a:t>• Polymorphic Personas: Scammers wear masks of RBI officers, bank support, police ('Digital Arrest'), or HR recruiters.</a:t>
            </a:r>
          </a:p>
          <a:p>
            <a:pPr>
              <a:spcAft>
                <a:spcPts val="350"/>
              </a:spcAft>
              <a:defRPr sz="880">
                <a:solidFill>
                  <a:srgbClr val="D6C9B8"/>
                </a:solidFill>
              </a:defRPr>
            </a:pPr>
            <a:r>
              <a:t>• Zero Grammatical Errors: LLMs craft fluent English, Hindi &amp; Hinglish scripts customized to victim profiles.</a:t>
            </a:r>
          </a:p>
          <a:p>
            <a:pPr>
              <a:spcAft>
                <a:spcPts val="350"/>
              </a:spcAft>
              <a:defRPr sz="880">
                <a:solidFill>
                  <a:srgbClr val="D6C9B8"/>
                </a:solidFill>
              </a:defRPr>
            </a:pPr>
            <a:r>
              <a:t>• Ephemeral Infrastructure: Phishing domains (.xyz/.top) and burner numbers rotate every 15–30 minutes.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63440" y="1261872"/>
            <a:ext cx="3456432" cy="1865376"/>
          </a:xfrm>
          <a:prstGeom prst="roundRect">
            <a:avLst/>
          </a:prstGeom>
          <a:solidFill>
            <a:srgbClr val="FCF9F5"/>
          </a:solidFill>
          <a:ln w="12700">
            <a:solidFill>
              <a:srgbClr val="D0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754880" y="1371600"/>
            <a:ext cx="64008" cy="1645920"/>
          </a:xfrm>
          <a:prstGeom prst="roundRect">
            <a:avLst/>
          </a:prstGeom>
          <a:solidFill>
            <a:srgbClr val="88B8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882896" y="1417320"/>
            <a:ext cx="502920" cy="219456"/>
          </a:xfrm>
          <a:prstGeom prst="roundRect">
            <a:avLst/>
          </a:prstGeom>
          <a:solidFill>
            <a:srgbClr val="88B8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221F26"/>
                </a:solidFill>
              </a:defRPr>
            </a:pPr>
            <a:r>
              <a:t>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77256" y="1389888"/>
            <a:ext cx="25054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21F26"/>
                </a:solidFill>
              </a:defRPr>
            </a:pPr>
            <a:r>
              <a:t>Multi-Channel Fragmentation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82896" y="1682496"/>
            <a:ext cx="3081528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0"/>
              </a:spcAft>
              <a:defRPr sz="860">
                <a:solidFill>
                  <a:srgbClr val="6C6570"/>
                </a:solidFill>
              </a:defRPr>
            </a:pPr>
            <a:r>
              <a:t>• A single scam spans 5+ touchpoints: SMS warning → WhatsApp support chat → phishing link → fake APK/web login → UPI collect request.</a:t>
            </a:r>
          </a:p>
          <a:p>
            <a:pPr>
              <a:spcAft>
                <a:spcPts val="350"/>
              </a:spcAft>
              <a:defRPr sz="860">
                <a:solidFill>
                  <a:srgbClr val="6C6570"/>
                </a:solidFill>
              </a:defRPr>
            </a:pPr>
            <a:r>
              <a:t>• Telcos see only the SMS; browsers see only the URL; banks see only the final UPI transfer—no entity connects the chain.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47888" y="1261872"/>
            <a:ext cx="3456432" cy="1865376"/>
          </a:xfrm>
          <a:prstGeom prst="roundRect">
            <a:avLst/>
          </a:prstGeom>
          <a:solidFill>
            <a:srgbClr val="E8E0D5"/>
          </a:solidFill>
          <a:ln w="12700">
            <a:solidFill>
              <a:srgbClr val="D0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339328" y="1371600"/>
            <a:ext cx="64008" cy="1645920"/>
          </a:xfrm>
          <a:prstGeom prst="roundRect">
            <a:avLst/>
          </a:prstGeom>
          <a:solidFill>
            <a:srgbClr val="C8B6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467344" y="1417320"/>
            <a:ext cx="502920" cy="219456"/>
          </a:xfrm>
          <a:prstGeom prst="roundRect">
            <a:avLst/>
          </a:prstGeom>
          <a:solidFill>
            <a:srgbClr val="C8B6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221F26"/>
                </a:solidFill>
              </a:defRPr>
            </a:pPr>
            <a:r>
              <a:t>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61704" y="1389888"/>
            <a:ext cx="25054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21F26"/>
                </a:solidFill>
              </a:defRPr>
            </a:pPr>
            <a:r>
              <a:t>Individually 'Innocent' Micro-Events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67344" y="1682496"/>
            <a:ext cx="3081528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0"/>
              </a:spcAft>
              <a:defRPr sz="860">
                <a:solidFill>
                  <a:srgbClr val="6C6570"/>
                </a:solidFill>
              </a:defRPr>
            </a:pPr>
            <a:r>
              <a:t>• An SMS saying 'Update PAN today' scores 18/100 (Low).</a:t>
            </a:r>
          </a:p>
          <a:p>
            <a:pPr>
              <a:spcAft>
                <a:spcPts val="350"/>
              </a:spcAft>
              <a:defRPr sz="860">
                <a:solidFill>
                  <a:srgbClr val="6C6570"/>
                </a:solidFill>
              </a:defRPr>
            </a:pPr>
            <a:r>
              <a:t>• Logging in from a new device scores 22/100 (Low).</a:t>
            </a:r>
          </a:p>
          <a:p>
            <a:pPr>
              <a:spcAft>
                <a:spcPts val="350"/>
              </a:spcAft>
              <a:defRPr sz="860">
                <a:solidFill>
                  <a:srgbClr val="6C6570"/>
                </a:solidFill>
              </a:defRPr>
            </a:pPr>
            <a:r>
              <a:t>• Adding a new UPI payee scores 25/100 (Low).</a:t>
            </a:r>
          </a:p>
          <a:p>
            <a:pPr>
              <a:spcAft>
                <a:spcPts val="350"/>
              </a:spcAft>
              <a:defRPr sz="860">
                <a:solidFill>
                  <a:srgbClr val="6C6570"/>
                </a:solidFill>
              </a:defRPr>
            </a:pPr>
            <a:r>
              <a:t>• Viewed separately, every step passes legacy rule thresholds; viewed together, it is a 96/100 active attack.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663440" y="3255264"/>
            <a:ext cx="3456432" cy="1865376"/>
          </a:xfrm>
          <a:prstGeom prst="roundRect">
            <a:avLst/>
          </a:prstGeom>
          <a:solidFill>
            <a:srgbClr val="E8E0D5"/>
          </a:solidFill>
          <a:ln w="12700">
            <a:solidFill>
              <a:srgbClr val="D0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754880" y="3364992"/>
            <a:ext cx="64008" cy="1645920"/>
          </a:xfrm>
          <a:prstGeom prst="roundRect">
            <a:avLst/>
          </a:prstGeom>
          <a:solidFill>
            <a:srgbClr val="C6A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882896" y="3410712"/>
            <a:ext cx="502920" cy="219456"/>
          </a:xfrm>
          <a:prstGeom prst="roundRect">
            <a:avLst/>
          </a:prstGeom>
          <a:solidFill>
            <a:srgbClr val="C6A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221F26"/>
                </a:solidFill>
              </a:defRPr>
            </a:pPr>
            <a:r>
              <a:t>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77256" y="3383280"/>
            <a:ext cx="25054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21F26"/>
                </a:solidFill>
              </a:defRPr>
            </a:pPr>
            <a:r>
              <a:t>Static Rules Lag Emerging Variants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82896" y="3675888"/>
            <a:ext cx="3081528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0"/>
              </a:spcAft>
              <a:defRPr sz="860">
                <a:solidFill>
                  <a:srgbClr val="6C6570"/>
                </a:solidFill>
              </a:defRPr>
            </a:pPr>
            <a:r>
              <a:t>• Hardcoded keyword blacklists fail when scammers switch from 'KYC Expiry' to 'Electricity Bill Disconnection' or '24-Hr Digital Arrest Warrant'.</a:t>
            </a:r>
          </a:p>
          <a:p>
            <a:pPr>
              <a:spcAft>
                <a:spcPts val="350"/>
              </a:spcAft>
              <a:defRPr sz="860">
                <a:solidFill>
                  <a:srgbClr val="6C6570"/>
                </a:solidFill>
              </a:defRPr>
            </a:pPr>
            <a:r>
              <a:t>• By the time fraud analysts write new rules (2–4 weeks), mule accounts have already cashed out.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47888" y="3255264"/>
            <a:ext cx="3456432" cy="1865376"/>
          </a:xfrm>
          <a:prstGeom prst="roundRect">
            <a:avLst/>
          </a:prstGeom>
          <a:solidFill>
            <a:srgbClr val="FCF9F5"/>
          </a:solidFill>
          <a:ln w="12700">
            <a:solidFill>
              <a:srgbClr val="D0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339328" y="3364992"/>
            <a:ext cx="64008" cy="1645920"/>
          </a:xfrm>
          <a:prstGeom prst="roundRect">
            <a:avLst/>
          </a:prstGeom>
          <a:solidFill>
            <a:srgbClr val="DEC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467344" y="3410712"/>
            <a:ext cx="502920" cy="219456"/>
          </a:xfrm>
          <a:prstGeom prst="roundRect">
            <a:avLst/>
          </a:prstGeom>
          <a:solidFill>
            <a:srgbClr val="DEC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221F26"/>
                </a:solidFill>
              </a:defRPr>
            </a:pPr>
            <a:r>
              <a:t>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61704" y="3383280"/>
            <a:ext cx="25054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21F26"/>
                </a:solidFill>
              </a:defRPr>
            </a:pPr>
            <a:r>
              <a:t>The Alert Fatigue Paradox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67344" y="3675888"/>
            <a:ext cx="3081528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0"/>
              </a:spcAft>
              <a:defRPr sz="860">
                <a:solidFill>
                  <a:srgbClr val="6C6570"/>
                </a:solidFill>
              </a:defRPr>
            </a:pPr>
            <a:r>
              <a:t>• Showing generic 'Beware of Fraud!' banners on every transaction trains users to click 'Proceed' blindly in &lt;1.2 seconds.</a:t>
            </a:r>
          </a:p>
          <a:p>
            <a:pPr>
              <a:spcAft>
                <a:spcPts val="350"/>
              </a:spcAft>
              <a:defRPr sz="860">
                <a:solidFill>
                  <a:srgbClr val="6C6570"/>
                </a:solidFill>
              </a:defRPr>
            </a:pPr>
            <a:r>
              <a:t>• Lowering rule thresholds causes 70%+ false positives on legitimate transfers, overwhelming SOC teams.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663440" y="5266944"/>
            <a:ext cx="7022592" cy="1197864"/>
          </a:xfrm>
          <a:prstGeom prst="roundRect">
            <a:avLst/>
          </a:prstGeom>
          <a:solidFill>
            <a:srgbClr val="DFECE8"/>
          </a:solidFill>
          <a:ln w="12700">
            <a:solidFill>
              <a:srgbClr val="88B8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4882896" y="5422392"/>
            <a:ext cx="544068" cy="219456"/>
          </a:xfrm>
          <a:prstGeom prst="roundRect">
            <a:avLst/>
          </a:prstGeom>
          <a:solidFill>
            <a:srgbClr val="88B8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221F26"/>
                </a:solidFill>
              </a:defRPr>
            </a:pPr>
            <a:r>
              <a:t>INSIGHT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518404" y="5394960"/>
            <a:ext cx="59847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221F26"/>
                </a:solidFill>
              </a:defRPr>
            </a:pPr>
            <a:r>
              <a:t>OUR PARADIGM SHIFT: FROM SINGLE-EVENT FILTERING TO STATEFUL WORKFLOW RECOGNITION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82896" y="5687568"/>
            <a:ext cx="66019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0"/>
              </a:spcAft>
              <a:defRPr sz="880">
                <a:solidFill>
                  <a:srgbClr val="6C6570"/>
                </a:solidFill>
              </a:defRPr>
            </a:pPr>
            <a:r>
              <a:t>• Legacy Approach: Inspects P(Fraud | Event_t) in isolation → Misses gradual social engineering escalation &amp; causes alert fatigue.</a:t>
            </a:r>
          </a:p>
          <a:p>
            <a:pPr>
              <a:spcAft>
                <a:spcPts val="350"/>
              </a:spcAft>
              <a:defRPr sz="880">
                <a:solidFill>
                  <a:srgbClr val="6C6570"/>
                </a:solidFill>
              </a:defRPr>
            </a:pPr>
            <a:r>
              <a:t>• ScamGraph AI Approach: Computes P(Fraud | Sequence E_1...E_t, Graph Topology G) → Captures the full scam storyline before funds leave.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47923" cy="54864"/>
          </a:xfrm>
          <a:prstGeom prst="rect">
            <a:avLst/>
          </a:prstGeom>
          <a:solidFill>
            <a:srgbClr val="C8B6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3" y="0"/>
            <a:ext cx="3047923" cy="54864"/>
          </a:xfrm>
          <a:prstGeom prst="rect">
            <a:avLst/>
          </a:prstGeom>
          <a:solidFill>
            <a:srgbClr val="88B8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847" y="0"/>
            <a:ext cx="3047923" cy="54864"/>
          </a:xfrm>
          <a:prstGeom prst="rect">
            <a:avLst/>
          </a:prstGeom>
          <a:solidFill>
            <a:srgbClr val="C6A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771" y="0"/>
            <a:ext cx="3047923" cy="54864"/>
          </a:xfrm>
          <a:prstGeom prst="rect">
            <a:avLst/>
          </a:prstGeom>
          <a:solidFill>
            <a:srgbClr val="DEC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46920" y="182880"/>
            <a:ext cx="1051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C6570"/>
                </a:solidFill>
              </a:defRPr>
            </a:pPr>
            <a:r>
              <a:t>○   △   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771632" y="182880"/>
            <a:ext cx="896112" cy="274320"/>
          </a:xfrm>
          <a:prstGeom prst="roundRect">
            <a:avLst/>
          </a:prstGeom>
          <a:solidFill>
            <a:srgbClr val="E8E0D5"/>
          </a:solidFill>
          <a:ln>
            <a:solidFill>
              <a:srgbClr val="D0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221F26"/>
                </a:solidFill>
              </a:defRPr>
            </a:pPr>
            <a:r>
              <a:t>03 /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2880"/>
            <a:ext cx="438912" cy="274320"/>
          </a:xfrm>
          <a:prstGeom prst="roundRect">
            <a:avLst/>
          </a:prstGeom>
          <a:solidFill>
            <a:srgbClr val="221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6F2EC"/>
                </a:solidFill>
              </a:defRPr>
            </a:pPr>
            <a:r>
              <a:t>02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" y="182880"/>
            <a:ext cx="3379622" cy="274320"/>
          </a:xfrm>
          <a:prstGeom prst="roundRect">
            <a:avLst/>
          </a:prstGeom>
          <a:solidFill>
            <a:srgbClr val="E8E0D5"/>
          </a:solidFill>
          <a:ln>
            <a:solidFill>
              <a:srgbClr val="C8B6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221F26"/>
                </a:solidFill>
              </a:defRPr>
            </a:pPr>
            <a:r>
              <a:t>CORE INNOVATION: SCAM JOURNEY INTELLIGENCE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84632"/>
            <a:ext cx="11155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221F26"/>
                </a:solidFill>
              </a:defRPr>
            </a:pPr>
            <a:r>
              <a:t>Tracking the 6-Stage Anatomy of an AI-Enabled Scam Workflow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877824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6C6570"/>
                </a:solidFill>
              </a:defRPr>
            </a:pPr>
            <a:r>
              <a:t>Instead of scoring isolated messages, ScamGraph links temporally related micro-signals into a unified, escalating fraud state machine.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1234440"/>
            <a:ext cx="5349240" cy="3520440"/>
          </a:xfrm>
          <a:prstGeom prst="roundRect">
            <a:avLst/>
          </a:prstGeom>
          <a:solidFill>
            <a:srgbClr val="FCF9F5"/>
          </a:solidFill>
          <a:ln w="12700">
            <a:solidFill>
              <a:srgbClr val="D0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298448"/>
            <a:ext cx="5102352" cy="4960827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502920" y="4864608"/>
            <a:ext cx="5349240" cy="1600200"/>
          </a:xfrm>
          <a:prstGeom prst="roundRect">
            <a:avLst/>
          </a:prstGeom>
          <a:solidFill>
            <a:srgbClr val="201E23"/>
          </a:solidFill>
          <a:ln w="12700">
            <a:solidFill>
              <a:srgbClr val="C8B6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94360" y="4974336"/>
            <a:ext cx="64008" cy="1380744"/>
          </a:xfrm>
          <a:prstGeom prst="roundRect">
            <a:avLst/>
          </a:prstGeom>
          <a:solidFill>
            <a:srgbClr val="88B8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68096" y="5038344"/>
            <a:ext cx="621792" cy="219456"/>
          </a:xfrm>
          <a:prstGeom prst="roundRect">
            <a:avLst/>
          </a:prstGeom>
          <a:solidFill>
            <a:srgbClr val="88B8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221F26"/>
                </a:solidFill>
              </a:defRPr>
            </a:pPr>
            <a:r>
              <a:t>TIMELINE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5010912"/>
            <a:ext cx="4215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F6F2EC"/>
                </a:solidFill>
              </a:defRPr>
            </a:pPr>
            <a:r>
              <a:t>EXAMPLE CONNECTED SCAM WORKFLOW (42-MINUTE WINDOW)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" y="5303520"/>
            <a:ext cx="4910328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0"/>
              </a:spcAft>
              <a:defRPr sz="840">
                <a:solidFill>
                  <a:srgbClr val="D6C9B8"/>
                </a:solidFill>
              </a:defRPr>
            </a:pPr>
            <a:r>
              <a:t>• T+00m [SMS]: 'Dear customer, SBI PAN-KYC expires today. Account will be frozen.' (Risk: 18)</a:t>
            </a:r>
          </a:p>
          <a:p>
            <a:pPr>
              <a:spcAft>
                <a:spcPts val="350"/>
              </a:spcAft>
              <a:defRPr sz="840">
                <a:solidFill>
                  <a:srgbClr val="D6C9B8"/>
                </a:solidFill>
              </a:defRPr>
            </a:pPr>
            <a:r>
              <a:t>• T+04m [URL]: Clicks bit.ly/sbi-kyc-update → redirects to sbi-pan-verify.xyz (Risk: 42)</a:t>
            </a:r>
          </a:p>
          <a:p>
            <a:pPr>
              <a:spcAft>
                <a:spcPts val="350"/>
              </a:spcAft>
              <a:defRPr sz="840">
                <a:solidFill>
                  <a:srgbClr val="D6C9B8"/>
                </a:solidFill>
              </a:defRPr>
            </a:pPr>
            <a:r>
              <a:t>• T+11m [Device/Login]: Unrecognized device fingerprint logs in + requests OTP (Risk: 61)</a:t>
            </a:r>
          </a:p>
          <a:p>
            <a:pPr>
              <a:spcAft>
                <a:spcPts val="350"/>
              </a:spcAft>
              <a:defRPr sz="840">
                <a:solidFill>
                  <a:srgbClr val="D6C9B8"/>
                </a:solidFill>
              </a:defRPr>
            </a:pPr>
            <a:r>
              <a:t>• T+18m [Payee + UPI]: Adds unknown VPA 'rbi.verify@okaxis' &amp; initiates ₹1,50,000 transfer (Risk: 96 — CRITICAL HOLD)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16752" y="1234440"/>
            <a:ext cx="5669280" cy="2880360"/>
          </a:xfrm>
          <a:prstGeom prst="roundRect">
            <a:avLst/>
          </a:prstGeom>
          <a:solidFill>
            <a:srgbClr val="FCF9F5"/>
          </a:solidFill>
          <a:ln w="12700">
            <a:solidFill>
              <a:srgbClr val="D0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journey_escal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298448"/>
            <a:ext cx="5440680" cy="2671762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6016752" y="4224528"/>
            <a:ext cx="5669280" cy="694944"/>
          </a:xfrm>
          <a:prstGeom prst="roundRect">
            <a:avLst/>
          </a:prstGeom>
          <a:solidFill>
            <a:srgbClr val="FCF9F5"/>
          </a:solidFill>
          <a:ln w="12700">
            <a:solidFill>
              <a:srgbClr val="D0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108192" y="4315968"/>
            <a:ext cx="411480" cy="512064"/>
          </a:xfrm>
          <a:prstGeom prst="roundRect">
            <a:avLst/>
          </a:prstGeom>
          <a:solidFill>
            <a:srgbClr val="221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6F2EC"/>
                </a:solidFill>
              </a:defRPr>
            </a:pPr>
            <a:r>
              <a:t>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4279392"/>
            <a:ext cx="5010912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221F26"/>
                </a:solidFill>
              </a:defRPr>
            </a:pPr>
            <a:r>
              <a:t>Temporal Window &amp; Decay Weighting</a:t>
            </a:r>
          </a:p>
          <a:p>
            <a:pPr>
              <a:defRPr sz="880">
                <a:solidFill>
                  <a:srgbClr val="6C6570"/>
                </a:solidFill>
              </a:defRPr>
            </a:pPr>
            <a:r>
              <a:t>Links cross-channel events within a sliding 24h window using exponential decay w(Δt) = exp(-λ·Δt) so rapid multi-step chains amplify risk exponentially.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16752" y="4992624"/>
            <a:ext cx="5669280" cy="694944"/>
          </a:xfrm>
          <a:prstGeom prst="roundRect">
            <a:avLst/>
          </a:prstGeom>
          <a:solidFill>
            <a:srgbClr val="E8E0D5"/>
          </a:solidFill>
          <a:ln w="12700">
            <a:solidFill>
              <a:srgbClr val="D0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108192" y="5084064"/>
            <a:ext cx="411480" cy="512064"/>
          </a:xfrm>
          <a:prstGeom prst="roundRect">
            <a:avLst/>
          </a:prstGeom>
          <a:solidFill>
            <a:srgbClr val="C8B6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21F26"/>
                </a:solidFill>
              </a:defRPr>
            </a:pPr>
            <a:r>
              <a:t>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5047488"/>
            <a:ext cx="5010912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221F26"/>
                </a:solidFill>
              </a:defRPr>
            </a:pPr>
            <a:r>
              <a:t>8 Canonical Scam State Machines</a:t>
            </a:r>
          </a:p>
          <a:p>
            <a:pPr>
              <a:defRPr sz="880">
                <a:solidFill>
                  <a:srgbClr val="6C6570"/>
                </a:solidFill>
              </a:defRPr>
            </a:pPr>
            <a:r>
              <a:t>Pre-trained + learned transition matrices for KYC Fraud, UPI Collect Trap, Digital Arrest, Fake Bank Support, Job Fee Scam, Electricity Cutoff, Loan &amp; Investment Scams.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016752" y="5760720"/>
            <a:ext cx="5669280" cy="694944"/>
          </a:xfrm>
          <a:prstGeom prst="roundRect">
            <a:avLst/>
          </a:prstGeom>
          <a:solidFill>
            <a:srgbClr val="DFECE8"/>
          </a:solidFill>
          <a:ln w="12700">
            <a:solidFill>
              <a:srgbClr val="D0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108192" y="5852160"/>
            <a:ext cx="411480" cy="512064"/>
          </a:xfrm>
          <a:prstGeom prst="roundRect">
            <a:avLst/>
          </a:prstGeom>
          <a:solidFill>
            <a:srgbClr val="88B8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21F26"/>
                </a:solidFill>
              </a:defRPr>
            </a:pPr>
            <a: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5815584"/>
            <a:ext cx="5010912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221F26"/>
                </a:solidFill>
              </a:defRPr>
            </a:pPr>
            <a:r>
              <a:t>Early Pre-Transaction Interception</a:t>
            </a:r>
          </a:p>
          <a:p>
            <a:pPr>
              <a:defRPr sz="880">
                <a:solidFill>
                  <a:srgbClr val="6C6570"/>
                </a:solidFill>
              </a:defRPr>
            </a:pPr>
            <a:r>
              <a:t>Crosses the 75/100 intervention threshold at Stage 4 (Beneficiary Addition), enabling proactive user warning BEFORE the final ₹1.5L UPI PIN is entered.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47923" cy="54864"/>
          </a:xfrm>
          <a:prstGeom prst="rect">
            <a:avLst/>
          </a:prstGeom>
          <a:solidFill>
            <a:srgbClr val="C8B6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3" y="0"/>
            <a:ext cx="3047923" cy="54864"/>
          </a:xfrm>
          <a:prstGeom prst="rect">
            <a:avLst/>
          </a:prstGeom>
          <a:solidFill>
            <a:srgbClr val="88B8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847" y="0"/>
            <a:ext cx="3047923" cy="54864"/>
          </a:xfrm>
          <a:prstGeom prst="rect">
            <a:avLst/>
          </a:prstGeom>
          <a:solidFill>
            <a:srgbClr val="C6A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771" y="0"/>
            <a:ext cx="3047923" cy="54864"/>
          </a:xfrm>
          <a:prstGeom prst="rect">
            <a:avLst/>
          </a:prstGeom>
          <a:solidFill>
            <a:srgbClr val="DEC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46920" y="182880"/>
            <a:ext cx="1051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C6570"/>
                </a:solidFill>
              </a:defRPr>
            </a:pPr>
            <a:r>
              <a:t>○   △   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771632" y="182880"/>
            <a:ext cx="896112" cy="274320"/>
          </a:xfrm>
          <a:prstGeom prst="roundRect">
            <a:avLst/>
          </a:prstGeom>
          <a:solidFill>
            <a:srgbClr val="E8E0D5"/>
          </a:solidFill>
          <a:ln>
            <a:solidFill>
              <a:srgbClr val="D0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221F26"/>
                </a:solidFill>
              </a:defRPr>
            </a:pPr>
            <a:r>
              <a:t>04 /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2880"/>
            <a:ext cx="438912" cy="274320"/>
          </a:xfrm>
          <a:prstGeom prst="roundRect">
            <a:avLst/>
          </a:prstGeom>
          <a:solidFill>
            <a:srgbClr val="221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6F2EC"/>
                </a:solidFill>
              </a:defRPr>
            </a:pPr>
            <a:r>
              <a:t>03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" y="182880"/>
            <a:ext cx="2414015" cy="274320"/>
          </a:xfrm>
          <a:prstGeom prst="roundRect">
            <a:avLst/>
          </a:prstGeom>
          <a:solidFill>
            <a:srgbClr val="E8E0D5"/>
          </a:solidFill>
          <a:ln>
            <a:solidFill>
              <a:srgbClr val="C8B6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221F26"/>
                </a:solidFill>
              </a:defRPr>
            </a:pPr>
            <a:r>
              <a:t>END-TO-END SYSTEM ARCHITECTURE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84632"/>
            <a:ext cx="11155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221F26"/>
                </a:solidFill>
              </a:defRPr>
            </a:pPr>
            <a:r>
              <a:t>Real-Time 5-Layer Streaming Architecture (&lt;50ms Decision Latency)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877824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6C6570"/>
                </a:solidFill>
              </a:defRPr>
            </a:pPr>
            <a:r>
              <a:t>Designed as a plug-and-play intelligence layer alongside existing UPI apps, banking cores, and telco gateways.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1243584"/>
            <a:ext cx="2103120" cy="2670048"/>
          </a:xfrm>
          <a:prstGeom prst="roundRect">
            <a:avLst/>
          </a:prstGeom>
          <a:solidFill>
            <a:srgbClr val="FCF9F5"/>
          </a:solidFill>
          <a:ln w="12700">
            <a:solidFill>
              <a:srgbClr val="D0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94360" y="1353312"/>
            <a:ext cx="64008" cy="2450592"/>
          </a:xfrm>
          <a:prstGeom prst="roundRect">
            <a:avLst/>
          </a:prstGeom>
          <a:solidFill>
            <a:srgbClr val="88B8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04088" y="1417320"/>
            <a:ext cx="621792" cy="219456"/>
          </a:xfrm>
          <a:prstGeom prst="roundRect">
            <a:avLst/>
          </a:prstGeom>
          <a:solidFill>
            <a:srgbClr val="88B8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221F26"/>
                </a:solidFill>
              </a:defRPr>
            </a:pPr>
            <a:r>
              <a:t>LAYER 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1389888"/>
            <a:ext cx="10424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221F26"/>
                </a:solidFill>
              </a:defRPr>
            </a:pPr>
            <a:r>
              <a:t>Multi-Modal Ingestion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" y="1682496"/>
            <a:ext cx="17373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0"/>
              </a:spcAft>
              <a:defRPr sz="830">
                <a:solidFill>
                  <a:srgbClr val="6C6570"/>
                </a:solidFill>
              </a:defRPr>
            </a:pPr>
            <a:r>
              <a:t>• SMS / WhatsApp Texts</a:t>
            </a:r>
          </a:p>
          <a:p>
            <a:pPr>
              <a:spcAft>
                <a:spcPts val="350"/>
              </a:spcAft>
              <a:defRPr sz="830">
                <a:solidFill>
                  <a:srgbClr val="6C6570"/>
                </a:solidFill>
              </a:defRPr>
            </a:pPr>
            <a:r>
              <a:t>• URLs &amp; Redirect Chains</a:t>
            </a:r>
          </a:p>
          <a:p>
            <a:pPr>
              <a:spcAft>
                <a:spcPts val="350"/>
              </a:spcAft>
              <a:defRPr sz="830">
                <a:solidFill>
                  <a:srgbClr val="6C6570"/>
                </a:solidFill>
              </a:defRPr>
            </a:pPr>
            <a:r>
              <a:t>• Call/Chat Transcripts</a:t>
            </a:r>
          </a:p>
          <a:p>
            <a:pPr>
              <a:spcAft>
                <a:spcPts val="350"/>
              </a:spcAft>
              <a:defRPr sz="830">
                <a:solidFill>
                  <a:srgbClr val="6C6570"/>
                </a:solidFill>
              </a:defRPr>
            </a:pPr>
            <a:r>
              <a:t>• Device &amp; Session Logs</a:t>
            </a:r>
          </a:p>
          <a:p>
            <a:pPr>
              <a:spcAft>
                <a:spcPts val="350"/>
              </a:spcAft>
              <a:defRPr sz="830">
                <a:solidFill>
                  <a:srgbClr val="6C6570"/>
                </a:solidFill>
              </a:defRPr>
            </a:pPr>
            <a:r>
              <a:t>• UPI / IMPS Requests</a:t>
            </a:r>
          </a:p>
          <a:p>
            <a:pPr>
              <a:spcAft>
                <a:spcPts val="350"/>
              </a:spcAft>
              <a:defRPr sz="830">
                <a:solidFill>
                  <a:srgbClr val="6C6570"/>
                </a:solidFill>
              </a:defRPr>
            </a:pPr>
            <a:r>
              <a:t>• Apache Kafka Event Bus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2633472" y="2432304"/>
            <a:ext cx="109728" cy="219456"/>
          </a:xfrm>
          <a:prstGeom prst="rightArrow">
            <a:avLst/>
          </a:prstGeom>
          <a:solidFill>
            <a:srgbClr val="221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770632" y="1243584"/>
            <a:ext cx="2103120" cy="2670048"/>
          </a:xfrm>
          <a:prstGeom prst="roundRect">
            <a:avLst/>
          </a:prstGeom>
          <a:solidFill>
            <a:srgbClr val="E8E0D5"/>
          </a:solidFill>
          <a:ln w="12700">
            <a:solidFill>
              <a:srgbClr val="D0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862072" y="1353312"/>
            <a:ext cx="64008" cy="2450592"/>
          </a:xfrm>
          <a:prstGeom prst="roundRect">
            <a:avLst/>
          </a:prstGeom>
          <a:solidFill>
            <a:srgbClr val="C8B6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971800" y="1417320"/>
            <a:ext cx="621792" cy="219456"/>
          </a:xfrm>
          <a:prstGeom prst="roundRect">
            <a:avLst/>
          </a:prstGeom>
          <a:solidFill>
            <a:srgbClr val="C8B6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221F26"/>
                </a:solidFill>
              </a:defRPr>
            </a:pPr>
            <a:r>
              <a:t>LAYER 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85032" y="1389888"/>
            <a:ext cx="10424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221F26"/>
                </a:solidFill>
              </a:defRPr>
            </a:pPr>
            <a:r>
              <a:t>Signal &amp; Feature Engine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71800" y="1682496"/>
            <a:ext cx="17373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0"/>
              </a:spcAft>
              <a:defRPr sz="830">
                <a:solidFill>
                  <a:srgbClr val="6C6570"/>
                </a:solidFill>
              </a:defRPr>
            </a:pPr>
            <a:r>
              <a:t>• Preserves ₹, URLs, VPAs</a:t>
            </a:r>
          </a:p>
          <a:p>
            <a:pPr>
              <a:spcAft>
                <a:spcPts val="350"/>
              </a:spcAft>
              <a:defRPr sz="830">
                <a:solidFill>
                  <a:srgbClr val="6C6570"/>
                </a:solidFill>
              </a:defRPr>
            </a:pPr>
            <a:r>
              <a:t>• MuRIL Hinglish Embeddings</a:t>
            </a:r>
          </a:p>
          <a:p>
            <a:pPr>
              <a:spcAft>
                <a:spcPts val="350"/>
              </a:spcAft>
              <a:defRPr sz="830">
                <a:solidFill>
                  <a:srgbClr val="6C6570"/>
                </a:solidFill>
              </a:defRPr>
            </a:pPr>
            <a:r>
              <a:t>• 9 Deterministic Rules</a:t>
            </a:r>
          </a:p>
          <a:p>
            <a:pPr>
              <a:spcAft>
                <a:spcPts val="350"/>
              </a:spcAft>
              <a:defRPr sz="830">
                <a:solidFill>
                  <a:srgbClr val="6C6570"/>
                </a:solidFill>
              </a:defRPr>
            </a:pPr>
            <a:r>
              <a:t>• URL Lexical Forensics</a:t>
            </a:r>
          </a:p>
          <a:p>
            <a:pPr>
              <a:spcAft>
                <a:spcPts val="350"/>
              </a:spcAft>
              <a:defRPr sz="830">
                <a:solidFill>
                  <a:srgbClr val="6C6570"/>
                </a:solidFill>
              </a:defRPr>
            </a:pPr>
            <a:r>
              <a:t>• Velocity &amp; Session Drift</a:t>
            </a:r>
          </a:p>
          <a:p>
            <a:pPr>
              <a:spcAft>
                <a:spcPts val="350"/>
              </a:spcAft>
              <a:defRPr sz="830">
                <a:solidFill>
                  <a:srgbClr val="6C6570"/>
                </a:solidFill>
              </a:defRPr>
            </a:pPr>
            <a:r>
              <a:t>• Feature Store (&lt;8ms)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4901184" y="2432304"/>
            <a:ext cx="109728" cy="219456"/>
          </a:xfrm>
          <a:prstGeom prst="rightArrow">
            <a:avLst/>
          </a:prstGeom>
          <a:solidFill>
            <a:srgbClr val="221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038344" y="1243584"/>
            <a:ext cx="2103120" cy="2670048"/>
          </a:xfrm>
          <a:prstGeom prst="roundRect">
            <a:avLst/>
          </a:prstGeom>
          <a:solidFill>
            <a:srgbClr val="201E23"/>
          </a:solidFill>
          <a:ln w="12700">
            <a:solidFill>
              <a:srgbClr val="C8B6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129784" y="1353312"/>
            <a:ext cx="64008" cy="2450592"/>
          </a:xfrm>
          <a:prstGeom prst="roundRect">
            <a:avLst/>
          </a:prstGeom>
          <a:solidFill>
            <a:srgbClr val="C6A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239512" y="1417320"/>
            <a:ext cx="621792" cy="219456"/>
          </a:xfrm>
          <a:prstGeom prst="roundRect">
            <a:avLst/>
          </a:prstGeom>
          <a:solidFill>
            <a:srgbClr val="C6A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221F26"/>
                </a:solidFill>
              </a:defRPr>
            </a:pPr>
            <a:r>
              <a:t>LAYER 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52744" y="1389888"/>
            <a:ext cx="10424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F6F2EC"/>
                </a:solidFill>
              </a:defRPr>
            </a:pPr>
            <a:r>
              <a:t>Graph &amp; Sequence AI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39512" y="1682496"/>
            <a:ext cx="17373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0"/>
              </a:spcAft>
              <a:defRPr sz="830">
                <a:solidFill>
                  <a:srgbClr val="D6C9B8"/>
                </a:solidFill>
              </a:defRPr>
            </a:pPr>
            <a:r>
              <a:t>• Temporal Transformer</a:t>
            </a:r>
          </a:p>
          <a:p>
            <a:pPr>
              <a:spcAft>
                <a:spcPts val="350"/>
              </a:spcAft>
              <a:defRPr sz="830">
                <a:solidFill>
                  <a:srgbClr val="D6C9B8"/>
                </a:solidFill>
              </a:defRPr>
            </a:pPr>
            <a:r>
              <a:t>• Heterogeneous ScamGraph</a:t>
            </a:r>
          </a:p>
          <a:p>
            <a:pPr>
              <a:spcAft>
                <a:spcPts val="350"/>
              </a:spcAft>
              <a:defRPr sz="830">
                <a:solidFill>
                  <a:srgbClr val="D6C9B8"/>
                </a:solidFill>
              </a:defRPr>
            </a:pPr>
            <a:r>
              <a:t>• GNN Entity Risk Scoring</a:t>
            </a:r>
          </a:p>
          <a:p>
            <a:pPr>
              <a:spcAft>
                <a:spcPts val="350"/>
              </a:spcAft>
              <a:defRPr sz="830">
                <a:solidFill>
                  <a:srgbClr val="D6C9B8"/>
                </a:solidFill>
              </a:defRPr>
            </a:pPr>
            <a:r>
              <a:t>• Campaign Clustering</a:t>
            </a:r>
          </a:p>
          <a:p>
            <a:pPr>
              <a:spcAft>
                <a:spcPts val="350"/>
              </a:spcAft>
              <a:defRPr sz="830">
                <a:solidFill>
                  <a:srgbClr val="D6C9B8"/>
                </a:solidFill>
              </a:defRPr>
            </a:pPr>
            <a:r>
              <a:t>• Partial Chain Matcher</a:t>
            </a:r>
          </a:p>
          <a:p>
            <a:pPr>
              <a:spcAft>
                <a:spcPts val="350"/>
              </a:spcAft>
              <a:defRPr sz="830">
                <a:solidFill>
                  <a:srgbClr val="D6C9B8"/>
                </a:solidFill>
              </a:defRPr>
            </a:pPr>
            <a:r>
              <a:t>• Dynamic State Memory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7168896" y="2432304"/>
            <a:ext cx="109728" cy="219456"/>
          </a:xfrm>
          <a:prstGeom prst="rightArrow">
            <a:avLst/>
          </a:prstGeom>
          <a:solidFill>
            <a:srgbClr val="221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306055" y="1243584"/>
            <a:ext cx="2103120" cy="2670048"/>
          </a:xfrm>
          <a:prstGeom prst="roundRect">
            <a:avLst/>
          </a:prstGeom>
          <a:solidFill>
            <a:srgbClr val="E8E0D5"/>
          </a:solidFill>
          <a:ln w="12700">
            <a:solidFill>
              <a:srgbClr val="D0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397495" y="1353312"/>
            <a:ext cx="64008" cy="2450592"/>
          </a:xfrm>
          <a:prstGeom prst="roundRect">
            <a:avLst/>
          </a:prstGeom>
          <a:solidFill>
            <a:srgbClr val="DEC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507223" y="1417320"/>
            <a:ext cx="621792" cy="219456"/>
          </a:xfrm>
          <a:prstGeom prst="roundRect">
            <a:avLst/>
          </a:prstGeom>
          <a:solidFill>
            <a:srgbClr val="DEC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221F26"/>
                </a:solidFill>
              </a:defRPr>
            </a:pPr>
            <a:r>
              <a:t>LAYER 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0455" y="1389888"/>
            <a:ext cx="10424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221F26"/>
                </a:solidFill>
              </a:defRPr>
            </a:pPr>
            <a:r>
              <a:t>Ensemble Risk Engine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07223" y="1682496"/>
            <a:ext cx="17373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0"/>
              </a:spcAft>
              <a:defRPr sz="830">
                <a:solidFill>
                  <a:srgbClr val="6C6570"/>
                </a:solidFill>
              </a:defRPr>
            </a:pPr>
            <a:r>
              <a:t>• Calibrated 0–100 Score</a:t>
            </a:r>
          </a:p>
          <a:p>
            <a:pPr>
              <a:spcAft>
                <a:spcPts val="350"/>
              </a:spcAft>
              <a:defRPr sz="830">
                <a:solidFill>
                  <a:srgbClr val="6C6570"/>
                </a:solidFill>
              </a:defRPr>
            </a:pPr>
            <a:r>
              <a:t>• 45% ML + 25% Rules</a:t>
            </a:r>
          </a:p>
          <a:p>
            <a:pPr>
              <a:spcAft>
                <a:spcPts val="350"/>
              </a:spcAft>
              <a:defRPr sz="830">
                <a:solidFill>
                  <a:srgbClr val="6C6570"/>
                </a:solidFill>
              </a:defRPr>
            </a:pPr>
            <a:r>
              <a:t>• 15% URL + 15% Workflow</a:t>
            </a:r>
          </a:p>
          <a:p>
            <a:pPr>
              <a:spcAft>
                <a:spcPts val="350"/>
              </a:spcAft>
              <a:defRPr sz="830">
                <a:solidFill>
                  <a:srgbClr val="6C6570"/>
                </a:solidFill>
              </a:defRPr>
            </a:pPr>
            <a:r>
              <a:t>• Threshold Tier Routing</a:t>
            </a:r>
          </a:p>
          <a:p>
            <a:pPr>
              <a:spcAft>
                <a:spcPts val="350"/>
              </a:spcAft>
              <a:defRPr sz="830">
                <a:solidFill>
                  <a:srgbClr val="6C6570"/>
                </a:solidFill>
              </a:defRPr>
            </a:pPr>
            <a:r>
              <a:t>• Confidence Calibration</a:t>
            </a:r>
          </a:p>
          <a:p>
            <a:pPr>
              <a:spcAft>
                <a:spcPts val="350"/>
              </a:spcAft>
              <a:defRPr sz="830">
                <a:solidFill>
                  <a:srgbClr val="6C6570"/>
                </a:solidFill>
              </a:defRPr>
            </a:pPr>
            <a:r>
              <a:t>• Alert Fatigue Filter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9436607" y="2432304"/>
            <a:ext cx="109728" cy="219456"/>
          </a:xfrm>
          <a:prstGeom prst="rightArrow">
            <a:avLst/>
          </a:prstGeom>
          <a:solidFill>
            <a:srgbClr val="221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573768" y="1243584"/>
            <a:ext cx="2103120" cy="2670048"/>
          </a:xfrm>
          <a:prstGeom prst="roundRect">
            <a:avLst/>
          </a:prstGeom>
          <a:solidFill>
            <a:srgbClr val="DFECE8"/>
          </a:solidFill>
          <a:ln w="12700">
            <a:solidFill>
              <a:srgbClr val="D0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665208" y="1353312"/>
            <a:ext cx="64008" cy="2450592"/>
          </a:xfrm>
          <a:prstGeom prst="roundRect">
            <a:avLst/>
          </a:prstGeom>
          <a:solidFill>
            <a:srgbClr val="88B8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9774936" y="1417320"/>
            <a:ext cx="621792" cy="219456"/>
          </a:xfrm>
          <a:prstGeom prst="roundRect">
            <a:avLst/>
          </a:prstGeom>
          <a:solidFill>
            <a:srgbClr val="88B8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221F26"/>
                </a:solidFill>
              </a:defRPr>
            </a:pPr>
            <a:r>
              <a:t>LAYER 05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488168" y="1389888"/>
            <a:ext cx="10424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221F26"/>
                </a:solidFill>
              </a:defRPr>
            </a:pPr>
            <a:r>
              <a:t>XAI &amp; Action Engine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74936" y="1682496"/>
            <a:ext cx="17373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0"/>
              </a:spcAft>
              <a:defRPr sz="830">
                <a:solidFill>
                  <a:srgbClr val="6C6570"/>
                </a:solidFill>
              </a:defRPr>
            </a:pPr>
            <a:r>
              <a:t>• Plain-Language XAI Alert</a:t>
            </a:r>
          </a:p>
          <a:p>
            <a:pPr>
              <a:spcAft>
                <a:spcPts val="350"/>
              </a:spcAft>
              <a:defRPr sz="830">
                <a:solidFill>
                  <a:srgbClr val="6C6570"/>
                </a:solidFill>
              </a:defRPr>
            </a:pPr>
            <a:r>
              <a:t>• 30s Payment Cool-Off</a:t>
            </a:r>
          </a:p>
          <a:p>
            <a:pPr>
              <a:spcAft>
                <a:spcPts val="350"/>
              </a:spcAft>
              <a:defRPr sz="830">
                <a:solidFill>
                  <a:srgbClr val="6C6570"/>
                </a:solidFill>
              </a:defRPr>
            </a:pPr>
            <a:r>
              <a:t>• Intent Verification Quiz</a:t>
            </a:r>
          </a:p>
          <a:p>
            <a:pPr>
              <a:spcAft>
                <a:spcPts val="350"/>
              </a:spcAft>
              <a:defRPr sz="830">
                <a:solidFill>
                  <a:srgbClr val="6C6570"/>
                </a:solidFill>
              </a:defRPr>
            </a:pPr>
            <a:r>
              <a:t>• SOC Graph Workbench</a:t>
            </a:r>
          </a:p>
          <a:p>
            <a:pPr>
              <a:spcAft>
                <a:spcPts val="350"/>
              </a:spcAft>
              <a:defRPr sz="830">
                <a:solidFill>
                  <a:srgbClr val="6C6570"/>
                </a:solidFill>
              </a:defRPr>
            </a:pPr>
            <a:r>
              <a:t>• 1-Click Mule Quarantine</a:t>
            </a:r>
          </a:p>
          <a:p>
            <a:pPr>
              <a:spcAft>
                <a:spcPts val="350"/>
              </a:spcAft>
              <a:defRPr sz="830">
                <a:solidFill>
                  <a:srgbClr val="6C6570"/>
                </a:solidFill>
              </a:defRPr>
            </a:pPr>
            <a:r>
              <a:t>• Continuous Feedback</a:t>
            </a:r>
          </a:p>
        </p:txBody>
      </p:sp>
      <p:pic>
        <p:nvPicPr>
          <p:cNvPr id="42" name="Picture 41" descr="framed_cyb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41648"/>
            <a:ext cx="4251960" cy="2423160"/>
          </a:xfrm>
          <a:prstGeom prst="rect">
            <a:avLst/>
          </a:prstGeom>
        </p:spPr>
      </p:pic>
      <p:sp>
        <p:nvSpPr>
          <p:cNvPr id="43" name="Rounded Rectangle 42"/>
          <p:cNvSpPr/>
          <p:nvPr/>
        </p:nvSpPr>
        <p:spPr>
          <a:xfrm>
            <a:off x="4919472" y="4041648"/>
            <a:ext cx="6766560" cy="768096"/>
          </a:xfrm>
          <a:prstGeom prst="roundRect">
            <a:avLst/>
          </a:prstGeom>
          <a:solidFill>
            <a:srgbClr val="FCF9F5"/>
          </a:solidFill>
          <a:ln w="12700">
            <a:solidFill>
              <a:srgbClr val="D0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5010912" y="4151376"/>
            <a:ext cx="64008" cy="548640"/>
          </a:xfrm>
          <a:prstGeom prst="roundRect">
            <a:avLst/>
          </a:prstGeom>
          <a:solidFill>
            <a:srgbClr val="88B8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175504" y="4151376"/>
            <a:ext cx="63276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221F26"/>
                </a:solidFill>
              </a:defRPr>
            </a:pPr>
            <a:r>
              <a:t>HIGH-THROUGHPUT STREAMING SLA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175504" y="4443984"/>
            <a:ext cx="63276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0"/>
              </a:spcAft>
              <a:defRPr sz="800">
                <a:solidFill>
                  <a:srgbClr val="6C6570"/>
                </a:solidFill>
              </a:defRPr>
            </a:pPr>
            <a:r>
              <a:t>• End-to-end inference in &lt;50ms p99 latency: 6ms text/URL extraction + 18ms quantized ONNX MuRIL/Sequence pass + 12ms Redis Graph lookup + 5ms risk aggregation.</a:t>
            </a:r>
          </a:p>
          <a:p>
            <a:pPr>
              <a:spcAft>
                <a:spcPts val="350"/>
              </a:spcAft>
              <a:defRPr sz="800">
                <a:solidFill>
                  <a:srgbClr val="6C6570"/>
                </a:solidFill>
              </a:defRPr>
            </a:pPr>
            <a:r>
              <a:t>• Handles 10,000+ concurrent UPI/banking events per second via stateless FastAPI workers and Redis Streams.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919472" y="4864608"/>
            <a:ext cx="6766560" cy="768096"/>
          </a:xfrm>
          <a:prstGeom prst="roundRect">
            <a:avLst/>
          </a:prstGeom>
          <a:solidFill>
            <a:srgbClr val="E8E0D5"/>
          </a:solidFill>
          <a:ln w="12700">
            <a:solidFill>
              <a:srgbClr val="D0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5010912" y="4974336"/>
            <a:ext cx="64008" cy="548640"/>
          </a:xfrm>
          <a:prstGeom prst="roundRect">
            <a:avLst/>
          </a:prstGeom>
          <a:solidFill>
            <a:srgbClr val="C8B6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175504" y="4974336"/>
            <a:ext cx="63276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221F26"/>
                </a:solidFill>
              </a:defRPr>
            </a:pPr>
            <a:r>
              <a:t>PRESERVING CRITICAL FRAUD INDICATORS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175504" y="5266944"/>
            <a:ext cx="63276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0"/>
              </a:spcAft>
              <a:defRPr sz="800">
                <a:solidFill>
                  <a:srgbClr val="6C6570"/>
                </a:solidFill>
              </a:defRPr>
            </a:pPr>
            <a:r>
              <a:t>• Unlike generic NLP pipelines that strip punctuation and digits, ScamGraph's preprocessor explicitly extracts and tokenizes URLs, ₹ currency amounts, 10-digit mobile numbers, @upi handles, and OTP keywords.</a:t>
            </a:r>
          </a:p>
          <a:p>
            <a:pPr>
              <a:spcAft>
                <a:spcPts val="350"/>
              </a:spcAft>
              <a:defRPr sz="800">
                <a:solidFill>
                  <a:srgbClr val="6C6570"/>
                </a:solidFill>
              </a:defRPr>
            </a:pPr>
            <a:r>
              <a:t>• Bilingual Hinglish normalization handles code-mixed messages ('Aapka bijli bill aaj raat disconnect ho jayega').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919472" y="5687568"/>
            <a:ext cx="6766560" cy="768096"/>
          </a:xfrm>
          <a:prstGeom prst="roundRect">
            <a:avLst/>
          </a:prstGeom>
          <a:solidFill>
            <a:srgbClr val="201E23"/>
          </a:solidFill>
          <a:ln w="12700">
            <a:solidFill>
              <a:srgbClr val="D0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5010912" y="5797296"/>
            <a:ext cx="64008" cy="548640"/>
          </a:xfrm>
          <a:prstGeom prst="roundRect">
            <a:avLst/>
          </a:prstGeom>
          <a:solidFill>
            <a:srgbClr val="C6A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175504" y="5797296"/>
            <a:ext cx="63276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6F2EC"/>
                </a:solidFill>
              </a:defRPr>
            </a:pPr>
            <a:r>
              <a:t>CLOSED-LOOP ACTIVE LEARNING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175504" y="6089904"/>
            <a:ext cx="63276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0"/>
              </a:spcAft>
              <a:defRPr sz="800">
                <a:solidFill>
                  <a:srgbClr val="D6C9B8"/>
                </a:solidFill>
              </a:defRPr>
            </a:pPr>
            <a:r>
              <a:t>• Confirmed fraud verdicts, user 'Report Scam' actions, and analyst overrides automatically feed back into nightly contrastive retraining—adapting to new scam templates within hours.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1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47923" cy="54864"/>
          </a:xfrm>
          <a:prstGeom prst="rect">
            <a:avLst/>
          </a:prstGeom>
          <a:solidFill>
            <a:srgbClr val="C8B6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3" y="0"/>
            <a:ext cx="3047923" cy="54864"/>
          </a:xfrm>
          <a:prstGeom prst="rect">
            <a:avLst/>
          </a:prstGeom>
          <a:solidFill>
            <a:srgbClr val="88B8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847" y="0"/>
            <a:ext cx="3047923" cy="54864"/>
          </a:xfrm>
          <a:prstGeom prst="rect">
            <a:avLst/>
          </a:prstGeom>
          <a:solidFill>
            <a:srgbClr val="C6A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771" y="0"/>
            <a:ext cx="3047923" cy="54864"/>
          </a:xfrm>
          <a:prstGeom prst="rect">
            <a:avLst/>
          </a:prstGeom>
          <a:solidFill>
            <a:srgbClr val="DEC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46920" y="182880"/>
            <a:ext cx="1051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C8B69E"/>
                </a:solidFill>
              </a:defRPr>
            </a:pPr>
            <a:r>
              <a:t>○   △   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771632" y="182880"/>
            <a:ext cx="896112" cy="274320"/>
          </a:xfrm>
          <a:prstGeom prst="roundRect">
            <a:avLst/>
          </a:prstGeom>
          <a:solidFill>
            <a:srgbClr val="2A272E"/>
          </a:solidFill>
          <a:ln>
            <a:solidFill>
              <a:srgbClr val="443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D6C9B8"/>
                </a:solidFill>
              </a:defRPr>
            </a:pPr>
            <a:r>
              <a:t>05 /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2880"/>
            <a:ext cx="438912" cy="274320"/>
          </a:xfrm>
          <a:prstGeom prst="roundRect">
            <a:avLst/>
          </a:prstGeom>
          <a:solidFill>
            <a:srgbClr val="C8B6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21F26"/>
                </a:solidFill>
              </a:defRPr>
            </a:pPr>
            <a:r>
              <a:t>04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" y="182880"/>
            <a:ext cx="2103120" cy="274320"/>
          </a:xfrm>
          <a:prstGeom prst="roundRect">
            <a:avLst/>
          </a:prstGeom>
          <a:solidFill>
            <a:srgbClr val="2A272E"/>
          </a:solidFill>
          <a:ln>
            <a:solidFill>
              <a:srgbClr val="C8B6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C8B69E"/>
                </a:solidFill>
              </a:defRPr>
            </a:pPr>
            <a:r>
              <a:t>AI &amp; MACHINE LEARNING CORE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84632"/>
            <a:ext cx="11155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6F2EC"/>
                </a:solidFill>
              </a:defRPr>
            </a:pPr>
            <a:r>
              <a:t>Dual-Engine Intelligence: Sequence Transformers + Heterogeneous ScamGraph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877824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D6C9B8"/>
                </a:solidFill>
              </a:defRPr>
            </a:pPr>
            <a:r>
              <a:t>Combining Indian-language NLP (MuRIL), temporal sequence modeling, and Graph Neural Networks to catch both known and zero-day scams.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1243584"/>
            <a:ext cx="5897880" cy="1645920"/>
          </a:xfrm>
          <a:prstGeom prst="roundRect">
            <a:avLst/>
          </a:prstGeom>
          <a:solidFill>
            <a:srgbClr val="2A272E"/>
          </a:solidFill>
          <a:ln w="12700">
            <a:solidFill>
              <a:srgbClr val="88B8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94360" y="1353312"/>
            <a:ext cx="64008" cy="1426464"/>
          </a:xfrm>
          <a:prstGeom prst="roundRect">
            <a:avLst/>
          </a:prstGeom>
          <a:solidFill>
            <a:srgbClr val="88B8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68096" y="1408176"/>
            <a:ext cx="621792" cy="219456"/>
          </a:xfrm>
          <a:prstGeom prst="roundRect">
            <a:avLst/>
          </a:prstGeom>
          <a:solidFill>
            <a:srgbClr val="88B8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221F26"/>
                </a:solidFill>
              </a:defRPr>
            </a:pPr>
            <a:r>
              <a:t>MODEL 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81328" y="1380744"/>
            <a:ext cx="47365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6F2EC"/>
                </a:solidFill>
              </a:defRPr>
            </a:pPr>
            <a:r>
              <a:t>Multilingual Indian NLP (MuRIL / IndicBERT)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" y="1673352"/>
            <a:ext cx="543153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0"/>
              </a:spcAft>
              <a:defRPr sz="860">
                <a:solidFill>
                  <a:srgbClr val="D6C9B8"/>
                </a:solidFill>
              </a:defRPr>
            </a:pPr>
            <a:r>
              <a:t>• Hierarchical 2-Stage Classifier: Stage 1 binary head (BENIGN vs. SCAM) + Stage 2 13-class scam taxonomy head (KYC, UPI, OTP, Phishing, Banking, Job, Loan, Lottery, Electricity, Investment, Digital Arrest, Impersonation).</a:t>
            </a:r>
          </a:p>
          <a:p>
            <a:pPr>
              <a:spcAft>
                <a:spcPts val="350"/>
              </a:spcAft>
              <a:defRPr sz="860">
                <a:solidFill>
                  <a:srgbClr val="D6C9B8"/>
                </a:solidFill>
              </a:defRPr>
            </a:pPr>
            <a:r>
              <a:t>• Trained on English + Hinglish scam corpora; detects psychological coercion, urgency ('within 15 mins'), authority impersonation ('CBI/RBI warrant'), and credential harvesting.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2980944"/>
            <a:ext cx="5897880" cy="1645920"/>
          </a:xfrm>
          <a:prstGeom prst="roundRect">
            <a:avLst/>
          </a:prstGeom>
          <a:solidFill>
            <a:srgbClr val="2A272E"/>
          </a:solidFill>
          <a:ln w="12700">
            <a:solidFill>
              <a:srgbClr val="C8B6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94360" y="3090672"/>
            <a:ext cx="64008" cy="1426464"/>
          </a:xfrm>
          <a:prstGeom prst="roundRect">
            <a:avLst/>
          </a:prstGeom>
          <a:solidFill>
            <a:srgbClr val="C8B6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68096" y="3145536"/>
            <a:ext cx="621792" cy="219456"/>
          </a:xfrm>
          <a:prstGeom prst="roundRect">
            <a:avLst/>
          </a:prstGeom>
          <a:solidFill>
            <a:srgbClr val="C8B6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221F26"/>
                </a:solidFill>
              </a:defRPr>
            </a:pPr>
            <a:r>
              <a:t>MODEL 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3118104"/>
            <a:ext cx="47365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6F2EC"/>
                </a:solidFill>
              </a:defRPr>
            </a:pPr>
            <a:r>
              <a:t>Temporal Workflow Sequence Engine (Transformer / LSTM)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" y="3410712"/>
            <a:ext cx="543153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0"/>
              </a:spcAft>
              <a:defRPr sz="860">
                <a:solidFill>
                  <a:srgbClr val="D6C9B8"/>
                </a:solidFill>
              </a:defRPr>
            </a:pPr>
            <a:r>
              <a:t>• Encodes each user's recent interaction trajectory E = [e_1, e_2, ..., e_t] with event-type embeddings, channel transitions (SMS → Web → UPI), and inter-event time deltas Δt.</a:t>
            </a:r>
          </a:p>
          <a:p>
            <a:pPr>
              <a:spcAft>
                <a:spcPts val="350"/>
              </a:spcAft>
              <a:defRPr sz="860">
                <a:solidFill>
                  <a:srgbClr val="D6C9B8"/>
                </a:solidFill>
              </a:defRPr>
            </a:pPr>
            <a:r>
              <a:t>• Computes workflow completion probability against canonical scam state machines, catching partial chains before the final payment step.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4718304"/>
            <a:ext cx="5897880" cy="1645920"/>
          </a:xfrm>
          <a:prstGeom prst="roundRect">
            <a:avLst/>
          </a:prstGeom>
          <a:solidFill>
            <a:srgbClr val="FCF9F5"/>
          </a:solidFill>
          <a:ln w="12700">
            <a:solidFill>
              <a:srgbClr val="C6A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94360" y="4828032"/>
            <a:ext cx="64008" cy="1426464"/>
          </a:xfrm>
          <a:prstGeom prst="roundRect">
            <a:avLst/>
          </a:prstGeom>
          <a:solidFill>
            <a:srgbClr val="C6A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68096" y="4882896"/>
            <a:ext cx="621792" cy="219456"/>
          </a:xfrm>
          <a:prstGeom prst="roundRect">
            <a:avLst/>
          </a:prstGeom>
          <a:solidFill>
            <a:srgbClr val="C6A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221F26"/>
                </a:solidFill>
              </a:defRPr>
            </a:pPr>
            <a:r>
              <a:t>MODEL 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81328" y="4855464"/>
            <a:ext cx="47365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21F26"/>
                </a:solidFill>
              </a:defRPr>
            </a:pPr>
            <a:r>
              <a:t>Heterogeneous ScamGraph &amp; GNN Risk Propagation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5148072"/>
            <a:ext cx="543153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0"/>
              </a:spcAft>
              <a:defRPr sz="860">
                <a:solidFill>
                  <a:srgbClr val="6C6570"/>
                </a:solidFill>
              </a:defRPr>
            </a:pPr>
            <a:r>
              <a:t>• Nodes: Users, Phone Numbers, URLs/Domains, Device Fingerprints, UPI IDs, Bank Accounts.</a:t>
            </a:r>
          </a:p>
          <a:p>
            <a:pPr>
              <a:spcAft>
                <a:spcPts val="350"/>
              </a:spcAft>
              <a:defRPr sz="860">
                <a:solidFill>
                  <a:srgbClr val="6C6570"/>
                </a:solidFill>
              </a:defRPr>
            </a:pPr>
            <a:r>
              <a:t>• Edges: Sent-Message, Clicked-Link, Logged-In-From, Requested-Collect, Transferred-Funds.</a:t>
            </a:r>
          </a:p>
          <a:p>
            <a:pPr>
              <a:spcAft>
                <a:spcPts val="350"/>
              </a:spcAft>
              <a:defRPr sz="860">
                <a:solidFill>
                  <a:srgbClr val="6C6570"/>
                </a:solidFill>
              </a:defRPr>
            </a:pPr>
            <a:r>
              <a:t>• Graph Attention Network (GAT) propagates suspicion across shared infrastructure—if 3 victims receive different SMS texts pointing to the same mule UPI handle, the entire cluster is flagged instantly.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0" y="1243584"/>
            <a:ext cx="5102352" cy="2514600"/>
          </a:xfrm>
          <a:prstGeom prst="roundRect">
            <a:avLst/>
          </a:prstGeom>
          <a:solidFill>
            <a:srgbClr val="2A272E"/>
          </a:solidFill>
          <a:ln w="12700">
            <a:solidFill>
              <a:srgbClr val="C8B6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radar_capabilit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3408" y="1298448"/>
            <a:ext cx="4882896" cy="2619008"/>
          </a:xfrm>
          <a:prstGeom prst="rect">
            <a:avLst/>
          </a:prstGeom>
        </p:spPr>
      </p:pic>
      <p:sp>
        <p:nvSpPr>
          <p:cNvPr id="30" name="Rounded Rectangle 29"/>
          <p:cNvSpPr/>
          <p:nvPr/>
        </p:nvSpPr>
        <p:spPr>
          <a:xfrm>
            <a:off x="6583680" y="3877056"/>
            <a:ext cx="5102352" cy="2578608"/>
          </a:xfrm>
          <a:prstGeom prst="roundRect">
            <a:avLst/>
          </a:prstGeom>
          <a:solidFill>
            <a:srgbClr val="FCF9F5"/>
          </a:solidFill>
          <a:ln w="12700">
            <a:solidFill>
              <a:srgbClr val="C8B6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graph_topolog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3408" y="3931920"/>
            <a:ext cx="4882896" cy="226388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47923" cy="54864"/>
          </a:xfrm>
          <a:prstGeom prst="rect">
            <a:avLst/>
          </a:prstGeom>
          <a:solidFill>
            <a:srgbClr val="C8B6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3" y="0"/>
            <a:ext cx="3047923" cy="54864"/>
          </a:xfrm>
          <a:prstGeom prst="rect">
            <a:avLst/>
          </a:prstGeom>
          <a:solidFill>
            <a:srgbClr val="88B8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847" y="0"/>
            <a:ext cx="3047923" cy="54864"/>
          </a:xfrm>
          <a:prstGeom prst="rect">
            <a:avLst/>
          </a:prstGeom>
          <a:solidFill>
            <a:srgbClr val="C6A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771" y="0"/>
            <a:ext cx="3047923" cy="54864"/>
          </a:xfrm>
          <a:prstGeom prst="rect">
            <a:avLst/>
          </a:prstGeom>
          <a:solidFill>
            <a:srgbClr val="DEC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46920" y="182880"/>
            <a:ext cx="1051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C6570"/>
                </a:solidFill>
              </a:defRPr>
            </a:pPr>
            <a:r>
              <a:t>○   △   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771632" y="182880"/>
            <a:ext cx="896112" cy="274320"/>
          </a:xfrm>
          <a:prstGeom prst="roundRect">
            <a:avLst/>
          </a:prstGeom>
          <a:solidFill>
            <a:srgbClr val="E8E0D5"/>
          </a:solidFill>
          <a:ln>
            <a:solidFill>
              <a:srgbClr val="D0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221F26"/>
                </a:solidFill>
              </a:defRPr>
            </a:pPr>
            <a:r>
              <a:t>06 /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2880"/>
            <a:ext cx="438912" cy="274320"/>
          </a:xfrm>
          <a:prstGeom prst="roundRect">
            <a:avLst/>
          </a:prstGeom>
          <a:solidFill>
            <a:srgbClr val="221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6F2EC"/>
                </a:solidFill>
              </a:defRPr>
            </a:pPr>
            <a:r>
              <a:t>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" y="182880"/>
            <a:ext cx="3781958" cy="274320"/>
          </a:xfrm>
          <a:prstGeom prst="roundRect">
            <a:avLst/>
          </a:prstGeom>
          <a:solidFill>
            <a:srgbClr val="E8E0D5"/>
          </a:solidFill>
          <a:ln>
            <a:solidFill>
              <a:srgbClr val="C8B6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221F26"/>
                </a:solidFill>
              </a:defRPr>
            </a:pPr>
            <a:r>
              <a:t>MULTI-SIGNAL FEATURE ENGINEERING &amp; RISK FORMULA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84632"/>
            <a:ext cx="11155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221F26"/>
                </a:solidFill>
              </a:defRPr>
            </a:pPr>
            <a:r>
              <a:t>Synthesizing 4 Feature Domains into a Calibrated 0–100 Risk Score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877824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6C6570"/>
                </a:solidFill>
              </a:defRPr>
            </a:pPr>
            <a:r>
              <a:t>Deterministic rules and lexical URL forensics complement deep learning—ensuring zero-day resilience and transparent scoring.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1243584"/>
            <a:ext cx="5715000" cy="932688"/>
          </a:xfrm>
          <a:prstGeom prst="roundRect">
            <a:avLst/>
          </a:prstGeom>
          <a:solidFill>
            <a:srgbClr val="FCF9F5"/>
          </a:solidFill>
          <a:ln w="12700">
            <a:solidFill>
              <a:srgbClr val="D0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94360" y="1335024"/>
            <a:ext cx="411480" cy="749808"/>
          </a:xfrm>
          <a:prstGeom prst="roundRect">
            <a:avLst/>
          </a:prstGeom>
          <a:solidFill>
            <a:srgbClr val="221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6F2EC"/>
                </a:solidFill>
              </a:defRPr>
            </a:pPr>
            <a: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" y="1298448"/>
            <a:ext cx="50566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221F26"/>
                </a:solidFill>
              </a:defRPr>
            </a:pPr>
            <a:r>
              <a:t>Communication &amp; Psychological Signals (NLP + 9 Rules)</a:t>
            </a:r>
          </a:p>
          <a:p>
            <a:pPr>
              <a:defRPr sz="880">
                <a:solidFill>
                  <a:srgbClr val="6C6570"/>
                </a:solidFill>
              </a:defRPr>
            </a:pPr>
            <a:r>
              <a:t>Detects Urgency ('immediately', 'within 2 hrs'), Threat ('account blocked', 'FIR'), OTP/PIN requests, KYC lures, Reward traps, Impersonation (RBI/SBI/Police), and Unknown Senders.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267712"/>
            <a:ext cx="5715000" cy="932688"/>
          </a:xfrm>
          <a:prstGeom prst="roundRect">
            <a:avLst/>
          </a:prstGeom>
          <a:solidFill>
            <a:srgbClr val="E8E0D5"/>
          </a:solidFill>
          <a:ln w="12700">
            <a:solidFill>
              <a:srgbClr val="D0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94360" y="2359152"/>
            <a:ext cx="411480" cy="749808"/>
          </a:xfrm>
          <a:prstGeom prst="roundRect">
            <a:avLst/>
          </a:prstGeom>
          <a:solidFill>
            <a:srgbClr val="C8B6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21F26"/>
                </a:solidFill>
              </a:defRPr>
            </a:pPr>
            <a: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" y="2322576"/>
            <a:ext cx="50566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221F26"/>
                </a:solidFill>
              </a:defRPr>
            </a:pPr>
            <a:r>
              <a:t>URL &amp; Lexical Phishing Forensics</a:t>
            </a:r>
          </a:p>
          <a:p>
            <a:pPr>
              <a:defRPr sz="880">
                <a:solidFill>
                  <a:srgbClr val="6C6570"/>
                </a:solidFill>
              </a:defRPr>
            </a:pPr>
            <a:r>
              <a:t>Extracts domain, subdomain depth, risky TLDs (.xyz, .top, .buzz, .click), IP-based URLs, URL shorteners (bit.ly, tinyurl), brand typosquatting (sbi-kyc-update.com), and login keywords.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291840"/>
            <a:ext cx="5715000" cy="932688"/>
          </a:xfrm>
          <a:prstGeom prst="roundRect">
            <a:avLst/>
          </a:prstGeom>
          <a:solidFill>
            <a:srgbClr val="DFECE8"/>
          </a:solidFill>
          <a:ln w="12700">
            <a:solidFill>
              <a:srgbClr val="D0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94360" y="3383280"/>
            <a:ext cx="411480" cy="749808"/>
          </a:xfrm>
          <a:prstGeom prst="roundRect">
            <a:avLst/>
          </a:prstGeom>
          <a:solidFill>
            <a:srgbClr val="88B8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21F26"/>
                </a:solidFill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848" y="3346704"/>
            <a:ext cx="50566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221F26"/>
                </a:solidFill>
              </a:defRPr>
            </a:pPr>
            <a:r>
              <a:t>Behavioral &amp; Session Telemetry</a:t>
            </a:r>
          </a:p>
          <a:p>
            <a:pPr>
              <a:defRPr sz="880">
                <a:solidFill>
                  <a:srgbClr val="6C6570"/>
                </a:solidFill>
              </a:defRPr>
            </a:pPr>
            <a:r>
              <a:t>Captures new/unrecognized device fingerprints, emulator/remote-access indicators (AnyDesk/TeamViewer), rapid navigation from external link to payment screen, and anomalous typing cadence.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315968"/>
            <a:ext cx="5715000" cy="932688"/>
          </a:xfrm>
          <a:prstGeom prst="roundRect">
            <a:avLst/>
          </a:prstGeom>
          <a:solidFill>
            <a:srgbClr val="EFE4EA"/>
          </a:solidFill>
          <a:ln w="12700">
            <a:solidFill>
              <a:srgbClr val="D0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94360" y="4407408"/>
            <a:ext cx="411480" cy="749808"/>
          </a:xfrm>
          <a:prstGeom prst="roundRect">
            <a:avLst/>
          </a:prstGeom>
          <a:solidFill>
            <a:srgbClr val="C6A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21F26"/>
                </a:solidFill>
              </a:defRPr>
            </a:pPr>
            <a: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9848" y="4370832"/>
            <a:ext cx="50566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221F26"/>
                </a:solidFill>
              </a:defRPr>
            </a:pPr>
            <a:r>
              <a:t>Transaction &amp; Graph Network Signals</a:t>
            </a:r>
          </a:p>
          <a:p>
            <a:pPr>
              <a:defRPr sz="880">
                <a:solidFill>
                  <a:srgbClr val="6C6570"/>
                </a:solidFill>
              </a:defRPr>
            </a:pPr>
            <a:r>
              <a:t>Evaluates first-time payee status, amount spike vs. 90-day user baseline (e.g., ₹1.5L vs ₹2K avg), rapid repeated UPI collect pulls, and payee GNN degree centrality across other victims.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5358384"/>
            <a:ext cx="5715000" cy="1115568"/>
          </a:xfrm>
          <a:prstGeom prst="roundRect">
            <a:avLst/>
          </a:prstGeom>
          <a:solidFill>
            <a:srgbClr val="201E23"/>
          </a:solidFill>
          <a:ln w="12700">
            <a:solidFill>
              <a:srgbClr val="C8B6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94360" y="5468112"/>
            <a:ext cx="64008" cy="896112"/>
          </a:xfrm>
          <a:prstGeom prst="roundRect">
            <a:avLst/>
          </a:prstGeom>
          <a:solidFill>
            <a:srgbClr val="C8B6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68096" y="5513832"/>
            <a:ext cx="544068" cy="219456"/>
          </a:xfrm>
          <a:prstGeom prst="roundRect">
            <a:avLst/>
          </a:prstGeom>
          <a:solidFill>
            <a:srgbClr val="C8B6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221F26"/>
                </a:solidFill>
              </a:defRPr>
            </a:pPr>
            <a:r>
              <a:t>FORMULA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03604" y="5486400"/>
            <a:ext cx="46588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6F2EC"/>
                </a:solidFill>
              </a:defRPr>
            </a:pPr>
            <a:r>
              <a:t>CALIBRATED HYBRID ENSEMBLE FORMULA (CONFIGURABLE THRESHOLDS)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8096" y="5779008"/>
            <a:ext cx="5276088" cy="585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0"/>
              </a:spcAft>
              <a:defRPr sz="840">
                <a:solidFill>
                  <a:srgbClr val="D6C9B8"/>
                </a:solidFill>
              </a:defRPr>
            </a:pPr>
            <a:r>
              <a:t>• Final Risk (0–100) = 0.45 × ML_Prob + 0.25 × Rule_Score + 0.15 × URL_Risk + 0.15 × Workflow_Graph_Score</a:t>
            </a:r>
          </a:p>
          <a:p>
            <a:pPr>
              <a:spcAft>
                <a:spcPts val="350"/>
              </a:spcAft>
              <a:defRPr sz="840">
                <a:solidFill>
                  <a:srgbClr val="D6C9B8"/>
                </a:solidFill>
              </a:defRPr>
            </a:pPr>
            <a:r>
              <a:t>• Critical Escalation Override: If ≥3 connected workflow stages match + High-Value Transfer, score floors at ≥85 (CRITICAL).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0" y="1243584"/>
            <a:ext cx="5285232" cy="2651760"/>
          </a:xfrm>
          <a:prstGeom prst="roundRect">
            <a:avLst/>
          </a:prstGeom>
          <a:solidFill>
            <a:srgbClr val="FCF9F5"/>
          </a:solidFill>
          <a:ln w="12700">
            <a:solidFill>
              <a:srgbClr val="D0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signal_breakd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3952" y="1298448"/>
            <a:ext cx="5120640" cy="2331720"/>
          </a:xfrm>
          <a:prstGeom prst="rect">
            <a:avLst/>
          </a:prstGeom>
        </p:spPr>
      </p:pic>
      <p:sp>
        <p:nvSpPr>
          <p:cNvPr id="32" name="Rounded Rectangle 31"/>
          <p:cNvSpPr/>
          <p:nvPr/>
        </p:nvSpPr>
        <p:spPr>
          <a:xfrm>
            <a:off x="6400800" y="4023360"/>
            <a:ext cx="5285232" cy="2450592"/>
          </a:xfrm>
          <a:prstGeom prst="roundRect">
            <a:avLst/>
          </a:prstGeom>
          <a:solidFill>
            <a:srgbClr val="E8E0D5"/>
          </a:solidFill>
          <a:ln w="12700">
            <a:solidFill>
              <a:srgbClr val="D0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492240" y="4133088"/>
            <a:ext cx="64008" cy="2231136"/>
          </a:xfrm>
          <a:prstGeom prst="roundRect">
            <a:avLst/>
          </a:prstGeom>
          <a:solidFill>
            <a:srgbClr val="88B8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656832" y="4197096"/>
            <a:ext cx="544068" cy="219456"/>
          </a:xfrm>
          <a:prstGeom prst="roundRect">
            <a:avLst/>
          </a:prstGeom>
          <a:solidFill>
            <a:srgbClr val="88B8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221F26"/>
                </a:solidFill>
              </a:defRPr>
            </a:pPr>
            <a:r>
              <a:t>SYNERGY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92340" y="4169664"/>
            <a:ext cx="42016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21F26"/>
                </a:solidFill>
              </a:defRPr>
            </a:pPr>
            <a:r>
              <a:t>WHY HYBRID MULTI-SIGNAL FUSION WINS IN PRODUCTION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56832" y="4462272"/>
            <a:ext cx="4818888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0"/>
              </a:spcAft>
              <a:defRPr sz="880">
                <a:solidFill>
                  <a:srgbClr val="6C6570"/>
                </a:solidFill>
              </a:defRPr>
            </a:pPr>
            <a:r>
              <a:t>• Pure ML Weakness: Can hallucinate on short benign texts ('OTP for login is 4421') or be evaded by adversarial prompt spelling.</a:t>
            </a:r>
          </a:p>
          <a:p>
            <a:pPr>
              <a:spcAft>
                <a:spcPts val="350"/>
              </a:spcAft>
              <a:defRPr sz="880">
                <a:solidFill>
                  <a:srgbClr val="6C6570"/>
                </a:solidFill>
              </a:defRPr>
            </a:pPr>
            <a:r>
              <a:t>• Pure Rule Weakness: Rigid thresholds fail when scammers paraphrase lures; cannot correlate multi-day event sequences.</a:t>
            </a:r>
          </a:p>
          <a:p>
            <a:pPr>
              <a:spcAft>
                <a:spcPts val="350"/>
              </a:spcAft>
              <a:defRPr sz="880">
                <a:solidFill>
                  <a:srgbClr val="6C6570"/>
                </a:solidFill>
              </a:defRPr>
            </a:pPr>
            <a:r>
              <a:t>• ScamGraph Synergy: Deterministic rules provide high-precision anchors (e.g., @upi + risky TLD + OTP request), while MuRIL + Sequence GNN provide semantic &amp; relational context.</a:t>
            </a:r>
          </a:p>
          <a:p>
            <a:pPr>
              <a:spcAft>
                <a:spcPts val="350"/>
              </a:spcAft>
              <a:defRPr sz="880">
                <a:solidFill>
                  <a:srgbClr val="6C6570"/>
                </a:solidFill>
              </a:defRPr>
            </a:pPr>
            <a:r>
              <a:t>• Result: Zero single-point-of-failure and full auditability for RBI compliance.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47923" cy="54864"/>
          </a:xfrm>
          <a:prstGeom prst="rect">
            <a:avLst/>
          </a:prstGeom>
          <a:solidFill>
            <a:srgbClr val="C8B6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3" y="0"/>
            <a:ext cx="3047923" cy="54864"/>
          </a:xfrm>
          <a:prstGeom prst="rect">
            <a:avLst/>
          </a:prstGeom>
          <a:solidFill>
            <a:srgbClr val="88B8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847" y="0"/>
            <a:ext cx="3047923" cy="54864"/>
          </a:xfrm>
          <a:prstGeom prst="rect">
            <a:avLst/>
          </a:prstGeom>
          <a:solidFill>
            <a:srgbClr val="C6A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771" y="0"/>
            <a:ext cx="3047923" cy="54864"/>
          </a:xfrm>
          <a:prstGeom prst="rect">
            <a:avLst/>
          </a:prstGeom>
          <a:solidFill>
            <a:srgbClr val="DEC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46920" y="182880"/>
            <a:ext cx="1051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C6570"/>
                </a:solidFill>
              </a:defRPr>
            </a:pPr>
            <a:r>
              <a:t>○   △   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771632" y="182880"/>
            <a:ext cx="896112" cy="274320"/>
          </a:xfrm>
          <a:prstGeom prst="roundRect">
            <a:avLst/>
          </a:prstGeom>
          <a:solidFill>
            <a:srgbClr val="E8E0D5"/>
          </a:solidFill>
          <a:ln>
            <a:solidFill>
              <a:srgbClr val="D0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221F26"/>
                </a:solidFill>
              </a:defRPr>
            </a:pPr>
            <a:r>
              <a:t>07 /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2880"/>
            <a:ext cx="438912" cy="274320"/>
          </a:xfrm>
          <a:prstGeom prst="roundRect">
            <a:avLst/>
          </a:prstGeom>
          <a:solidFill>
            <a:srgbClr val="221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6F2EC"/>
                </a:solidFill>
              </a:defRPr>
            </a:pPr>
            <a:r>
              <a:t>06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" y="182880"/>
            <a:ext cx="4345228" cy="274320"/>
          </a:xfrm>
          <a:prstGeom prst="roundRect">
            <a:avLst/>
          </a:prstGeom>
          <a:solidFill>
            <a:srgbClr val="E8E0D5"/>
          </a:solidFill>
          <a:ln>
            <a:solidFill>
              <a:srgbClr val="C8B6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221F26"/>
                </a:solidFill>
              </a:defRPr>
            </a:pPr>
            <a:r>
              <a:t>STOPPING ALERT FATIGUE: RISK-PROPORTIONAL INTERVENTION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84632"/>
            <a:ext cx="11155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221F26"/>
                </a:solidFill>
              </a:defRPr>
            </a:pPr>
            <a:r>
              <a:t>Precision Friction: Silent on Safe Payments, Decisive on Active Scams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877824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6C6570"/>
                </a:solidFill>
              </a:defRPr>
            </a:pPr>
            <a:r>
              <a:t>Constant low-confidence warnings make users blind to real danger. ScamGraph matches intervention intensity strictly to workflow risk.</a:t>
            </a:r>
          </a:p>
        </p:txBody>
      </p:sp>
      <p:pic>
        <p:nvPicPr>
          <p:cNvPr id="13" name="Picture 12" descr="framed_c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43584"/>
            <a:ext cx="3977639" cy="265176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502920" y="4005072"/>
            <a:ext cx="5166360" cy="2468880"/>
          </a:xfrm>
          <a:prstGeom prst="roundRect">
            <a:avLst/>
          </a:prstGeom>
          <a:solidFill>
            <a:srgbClr val="FCF9F5"/>
          </a:solidFill>
          <a:ln w="12700">
            <a:solidFill>
              <a:srgbClr val="D0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alert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4059936"/>
            <a:ext cx="5029200" cy="214884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4617720" y="1243584"/>
            <a:ext cx="7068312" cy="2651760"/>
          </a:xfrm>
          <a:prstGeom prst="roundRect">
            <a:avLst/>
          </a:prstGeom>
          <a:solidFill>
            <a:srgbClr val="201E23"/>
          </a:solidFill>
          <a:ln w="12700">
            <a:solidFill>
              <a:srgbClr val="C8B6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709160" y="1353312"/>
            <a:ext cx="64008" cy="2432304"/>
          </a:xfrm>
          <a:prstGeom prst="roundRect">
            <a:avLst/>
          </a:prstGeom>
          <a:solidFill>
            <a:srgbClr val="88B8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882896" y="1417320"/>
            <a:ext cx="932688" cy="219456"/>
          </a:xfrm>
          <a:prstGeom prst="roundRect">
            <a:avLst/>
          </a:prstGeom>
          <a:solidFill>
            <a:srgbClr val="88B8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221F26"/>
                </a:solidFill>
              </a:defRPr>
            </a:pPr>
            <a:r>
              <a:t>ZERO FATIGUE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07024" y="1389888"/>
            <a:ext cx="55961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F6F2EC"/>
                </a:solidFill>
              </a:defRPr>
            </a:pPr>
            <a:r>
              <a:t>HOW SCAMGRAPH ELIMINATES 84% OF UNNECESSARY WARNING POPUPS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82896" y="1682496"/>
            <a:ext cx="6601968" cy="2084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0"/>
              </a:spcAft>
              <a:defRPr sz="900">
                <a:solidFill>
                  <a:srgbClr val="D6C9B8"/>
                </a:solidFill>
              </a:defRPr>
            </a:pPr>
            <a:r>
              <a:t>• 1. Multi-Signal Corroboration Gate: A single weak indicator (e.g., an unknown sender SMS or a standalone ₹5,000 payment) NEVER triggers a blocking modal. High-friction alerts require multi-stage sequence evidence.</a:t>
            </a:r>
          </a:p>
          <a:p>
            <a:pPr>
              <a:spcAft>
                <a:spcPts val="350"/>
              </a:spcAft>
              <a:defRPr sz="900">
                <a:solidFill>
                  <a:srgbClr val="D6C9B8"/>
                </a:solidFill>
              </a:defRPr>
            </a:pPr>
            <a:r>
              <a:t>• 2. Personalized Behavioral Baselines: A ₹40,000 transfer to a known vendor on a trusted home Wi-Fi device passes silently (Score: 12/100). The same amount to a first-time payee 6 minutes after clicking an SMS link triggers a Critical Hold (Score: 94/100).</a:t>
            </a:r>
          </a:p>
          <a:p>
            <a:pPr>
              <a:spcAft>
                <a:spcPts val="350"/>
              </a:spcAft>
              <a:defRPr sz="900">
                <a:solidFill>
                  <a:srgbClr val="D6C9B8"/>
                </a:solidFill>
              </a:defRPr>
            </a:pPr>
            <a:r>
              <a:t>• 3. Contextual Micro-Education: When friction IS applied, we show the exact detected scam pattern ('KYC Expiry → Phishing Link → UPI Drain') rather than a vague 'Beware of Fraud' banner.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33872" y="4005072"/>
            <a:ext cx="2880360" cy="1188720"/>
          </a:xfrm>
          <a:prstGeom prst="roundRect">
            <a:avLst/>
          </a:prstGeom>
          <a:solidFill>
            <a:srgbClr val="E8EFDF"/>
          </a:solidFill>
          <a:ln w="12700">
            <a:solidFill>
              <a:srgbClr val="D0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925312" y="4114800"/>
            <a:ext cx="64008" cy="969264"/>
          </a:xfrm>
          <a:prstGeom prst="roundRect">
            <a:avLst/>
          </a:prstGeom>
          <a:solidFill>
            <a:srgbClr val="B4C7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035040" y="4160520"/>
            <a:ext cx="1010412" cy="219456"/>
          </a:xfrm>
          <a:prstGeom prst="roundRect">
            <a:avLst/>
          </a:prstGeom>
          <a:solidFill>
            <a:srgbClr val="B4C7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221F26"/>
                </a:solidFill>
              </a:defRPr>
            </a:pPr>
            <a:r>
              <a:t>0–29 LOW RISK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6892" y="4133088"/>
            <a:ext cx="14218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80" b="1">
                <a:solidFill>
                  <a:srgbClr val="221F26"/>
                </a:solidFill>
              </a:defRPr>
            </a:pPr>
            <a:r>
              <a:t>Silent Pass &amp; Log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35040" y="4425696"/>
            <a:ext cx="250545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0"/>
              </a:spcAft>
              <a:defRPr sz="800">
                <a:solidFill>
                  <a:srgbClr val="6C6570"/>
                </a:solidFill>
              </a:defRPr>
            </a:pPr>
            <a:r>
              <a:t>• Zero user interruption.</a:t>
            </a:r>
          </a:p>
          <a:p>
            <a:pPr>
              <a:spcAft>
                <a:spcPts val="350"/>
              </a:spcAft>
              <a:defRPr sz="800">
                <a:solidFill>
                  <a:srgbClr val="6C6570"/>
                </a:solidFill>
              </a:defRPr>
            </a:pPr>
            <a:r>
              <a:t>• Event logged in graph memory for 24h sequence correlation.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78240" y="4005072"/>
            <a:ext cx="2880360" cy="1188720"/>
          </a:xfrm>
          <a:prstGeom prst="roundRect">
            <a:avLst/>
          </a:prstGeom>
          <a:solidFill>
            <a:srgbClr val="F6ECD6"/>
          </a:solidFill>
          <a:ln w="12700">
            <a:solidFill>
              <a:srgbClr val="D0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869680" y="4114800"/>
            <a:ext cx="64008" cy="969264"/>
          </a:xfrm>
          <a:prstGeom prst="roundRect">
            <a:avLst/>
          </a:prstGeom>
          <a:solidFill>
            <a:srgbClr val="DEC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979408" y="4160520"/>
            <a:ext cx="932688" cy="219456"/>
          </a:xfrm>
          <a:prstGeom prst="roundRect">
            <a:avLst/>
          </a:prstGeom>
          <a:solidFill>
            <a:srgbClr val="DEC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221F26"/>
                </a:solidFill>
              </a:defRPr>
            </a:pPr>
            <a:r>
              <a:t>30–59 MEDIUM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03536" y="4133088"/>
            <a:ext cx="14996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80" b="1">
                <a:solidFill>
                  <a:srgbClr val="221F26"/>
                </a:solidFill>
              </a:defRPr>
            </a:pPr>
            <a:r>
              <a:t>Soft Contextual Banner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79408" y="4425696"/>
            <a:ext cx="250545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0"/>
              </a:spcAft>
              <a:defRPr sz="800">
                <a:solidFill>
                  <a:srgbClr val="6C6570"/>
                </a:solidFill>
              </a:defRPr>
            </a:pPr>
            <a:r>
              <a:t>• Non-blocking inline badge: 'First-time payee + external link'.</a:t>
            </a:r>
          </a:p>
          <a:p>
            <a:pPr>
              <a:spcAft>
                <a:spcPts val="350"/>
              </a:spcAft>
              <a:defRPr sz="800">
                <a:solidFill>
                  <a:srgbClr val="6C6570"/>
                </a:solidFill>
              </a:defRPr>
            </a:pPr>
            <a:r>
              <a:t>• User proceeds with 1 tap.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833872" y="5266944"/>
            <a:ext cx="2880360" cy="1188720"/>
          </a:xfrm>
          <a:prstGeom prst="roundRect">
            <a:avLst/>
          </a:prstGeom>
          <a:solidFill>
            <a:srgbClr val="EFE4EA"/>
          </a:solidFill>
          <a:ln w="12700">
            <a:solidFill>
              <a:srgbClr val="D0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925312" y="5376672"/>
            <a:ext cx="64008" cy="969264"/>
          </a:xfrm>
          <a:prstGeom prst="roundRect">
            <a:avLst/>
          </a:prstGeom>
          <a:solidFill>
            <a:srgbClr val="C6A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035040" y="5422392"/>
            <a:ext cx="1165860" cy="219456"/>
          </a:xfrm>
          <a:prstGeom prst="roundRect">
            <a:avLst/>
          </a:prstGeom>
          <a:solidFill>
            <a:srgbClr val="C6A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221F26"/>
                </a:solidFill>
              </a:defRPr>
            </a:pPr>
            <a:r>
              <a:t>60–79 HIGH RISK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92340" y="5394960"/>
            <a:ext cx="12664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80" b="1">
                <a:solidFill>
                  <a:srgbClr val="221F26"/>
                </a:solidFill>
              </a:defRPr>
            </a:pPr>
            <a:r>
              <a:t>Step-Up Intent Check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35040" y="5687568"/>
            <a:ext cx="250545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0"/>
              </a:spcAft>
              <a:defRPr sz="800">
                <a:solidFill>
                  <a:srgbClr val="6C6570"/>
                </a:solidFill>
              </a:defRPr>
            </a:pPr>
            <a:r>
              <a:t>• Interactive 2-question prompt: 'Did someone on a call/SMS ask you to pay?'</a:t>
            </a:r>
          </a:p>
          <a:p>
            <a:pPr>
              <a:spcAft>
                <a:spcPts val="350"/>
              </a:spcAft>
              <a:defRPr sz="800">
                <a:solidFill>
                  <a:srgbClr val="6C6570"/>
                </a:solidFill>
              </a:defRPr>
            </a:pPr>
            <a:r>
              <a:t>• Blocks screen-sharing overlay.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778240" y="5266944"/>
            <a:ext cx="2880360" cy="1188720"/>
          </a:xfrm>
          <a:prstGeom prst="roundRect">
            <a:avLst/>
          </a:prstGeom>
          <a:solidFill>
            <a:srgbClr val="E8E0D5"/>
          </a:solidFill>
          <a:ln w="12700">
            <a:solidFill>
              <a:srgbClr val="D0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869680" y="5376672"/>
            <a:ext cx="64008" cy="969264"/>
          </a:xfrm>
          <a:prstGeom prst="roundRect">
            <a:avLst/>
          </a:prstGeom>
          <a:solidFill>
            <a:srgbClr val="DB94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979408" y="5422392"/>
            <a:ext cx="1165860" cy="219456"/>
          </a:xfrm>
          <a:prstGeom prst="roundRect">
            <a:avLst/>
          </a:prstGeom>
          <a:solidFill>
            <a:srgbClr val="DB94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221F26"/>
                </a:solidFill>
              </a:defRPr>
            </a:pPr>
            <a:r>
              <a:t>80–100 CRITICAL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36708" y="5394960"/>
            <a:ext cx="12664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80" b="1">
                <a:solidFill>
                  <a:srgbClr val="221F26"/>
                </a:solidFill>
              </a:defRPr>
            </a:pPr>
            <a:r>
              <a:t>30s Cool-Off + Hold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79408" y="5687568"/>
            <a:ext cx="250545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0"/>
              </a:spcAft>
              <a:defRPr sz="800">
                <a:solidFill>
                  <a:srgbClr val="6C6570"/>
                </a:solidFill>
              </a:defRPr>
            </a:pPr>
            <a:r>
              <a:t>• Mandatory 30-sec cognitive pause breaks panic/urgency.</a:t>
            </a:r>
          </a:p>
          <a:p>
            <a:pPr>
              <a:spcAft>
                <a:spcPts val="350"/>
              </a:spcAft>
              <a:defRPr sz="800">
                <a:solidFill>
                  <a:srgbClr val="6C6570"/>
                </a:solidFill>
              </a:defRPr>
            </a:pPr>
            <a:r>
              <a:t>• Temporary hold + direct link to official bank app.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47923" cy="54864"/>
          </a:xfrm>
          <a:prstGeom prst="rect">
            <a:avLst/>
          </a:prstGeom>
          <a:solidFill>
            <a:srgbClr val="C8B6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3" y="0"/>
            <a:ext cx="3047923" cy="54864"/>
          </a:xfrm>
          <a:prstGeom prst="rect">
            <a:avLst/>
          </a:prstGeom>
          <a:solidFill>
            <a:srgbClr val="88B8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847" y="0"/>
            <a:ext cx="3047923" cy="54864"/>
          </a:xfrm>
          <a:prstGeom prst="rect">
            <a:avLst/>
          </a:prstGeom>
          <a:solidFill>
            <a:srgbClr val="C6A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771" y="0"/>
            <a:ext cx="3047923" cy="54864"/>
          </a:xfrm>
          <a:prstGeom prst="rect">
            <a:avLst/>
          </a:prstGeom>
          <a:solidFill>
            <a:srgbClr val="DEC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46920" y="182880"/>
            <a:ext cx="1051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C6570"/>
                </a:solidFill>
              </a:defRPr>
            </a:pPr>
            <a:r>
              <a:t>○   △   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771632" y="182880"/>
            <a:ext cx="896112" cy="274320"/>
          </a:xfrm>
          <a:prstGeom prst="roundRect">
            <a:avLst/>
          </a:prstGeom>
          <a:solidFill>
            <a:srgbClr val="E8E0D5"/>
          </a:solidFill>
          <a:ln>
            <a:solidFill>
              <a:srgbClr val="D0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221F26"/>
                </a:solidFill>
              </a:defRPr>
            </a:pPr>
            <a:r>
              <a:t>08 /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2880"/>
            <a:ext cx="438912" cy="274320"/>
          </a:xfrm>
          <a:prstGeom prst="roundRect">
            <a:avLst/>
          </a:prstGeom>
          <a:solidFill>
            <a:srgbClr val="221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6F2EC"/>
                </a:solidFill>
              </a:defRPr>
            </a:pPr>
            <a:r>
              <a:t>07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" y="182880"/>
            <a:ext cx="3942892" cy="274320"/>
          </a:xfrm>
          <a:prstGeom prst="roundRect">
            <a:avLst/>
          </a:prstGeom>
          <a:solidFill>
            <a:srgbClr val="E8E0D5"/>
          </a:solidFill>
          <a:ln>
            <a:solidFill>
              <a:srgbClr val="C8B6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221F26"/>
                </a:solidFill>
              </a:defRPr>
            </a:pPr>
            <a:r>
              <a:t>EXPLAINABLE AI (XAI) &amp; LIVE INTERACTIVE WORKBENCH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84632"/>
            <a:ext cx="11155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221F26"/>
                </a:solidFill>
              </a:defRPr>
            </a:pPr>
            <a:r>
              <a:t>Transparent Reasoning for Every Customer Alert &amp; Analyst Decision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877824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6C6570"/>
                </a:solidFill>
              </a:defRPr>
            </a:pPr>
            <a:r>
              <a:t>Black-box scores erode trust. ScamGraph translates complex graph &amp; sequence weights into clear, actionable human explanations.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1243584"/>
            <a:ext cx="5440680" cy="3090672"/>
          </a:xfrm>
          <a:prstGeom prst="roundRect">
            <a:avLst/>
          </a:prstGeom>
          <a:solidFill>
            <a:srgbClr val="201E23"/>
          </a:solidFill>
          <a:ln w="12700">
            <a:solidFill>
              <a:srgbClr val="C8B6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workbench_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98448"/>
            <a:ext cx="5257800" cy="2951747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502920" y="4462272"/>
            <a:ext cx="5440680" cy="2011680"/>
          </a:xfrm>
          <a:prstGeom prst="roundRect">
            <a:avLst/>
          </a:prstGeom>
          <a:solidFill>
            <a:srgbClr val="FCF9F5"/>
          </a:solidFill>
          <a:ln w="12700">
            <a:solidFill>
              <a:srgbClr val="DB9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94360" y="4572000"/>
            <a:ext cx="64008" cy="1792224"/>
          </a:xfrm>
          <a:prstGeom prst="roundRect">
            <a:avLst/>
          </a:prstGeom>
          <a:solidFill>
            <a:srgbClr val="DB94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68096" y="4636008"/>
            <a:ext cx="777240" cy="219456"/>
          </a:xfrm>
          <a:prstGeom prst="roundRect">
            <a:avLst/>
          </a:prstGeom>
          <a:solidFill>
            <a:srgbClr val="DB94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221F26"/>
                </a:solidFill>
              </a:defRPr>
            </a:pPr>
            <a:r>
              <a:t>USER ALERT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36776" y="4608576"/>
            <a:ext cx="4123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221F26"/>
                </a:solidFill>
              </a:defRPr>
            </a:pPr>
            <a:r>
              <a:t>CUSTOMER VIEW: 'WHY WE PAUSED THIS ₹1,50,000 PAYMENT'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" y="4901184"/>
            <a:ext cx="4974336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0"/>
              </a:spcAft>
              <a:defRPr sz="840">
                <a:solidFill>
                  <a:srgbClr val="6C6570"/>
                </a:solidFill>
              </a:defRPr>
            </a:pPr>
            <a:r>
              <a:t>• Detected Pattern: Connected KYC Account-Blocking Scam Workflow (96/100 — CRITICAL RISK)</a:t>
            </a:r>
          </a:p>
          <a:p>
            <a:pPr>
              <a:spcAft>
                <a:spcPts val="350"/>
              </a:spcAft>
              <a:defRPr sz="840">
                <a:solidFill>
                  <a:srgbClr val="6C6570"/>
                </a:solidFill>
              </a:defRPr>
            </a:pPr>
            <a:r>
              <a:t>• Why This Is Suspicious: (1) You received an urgent KYC expiry message from an unknown sender 18 mins ago → (2) You clicked an unverified link (sbi-pan-verify.xyz) → (3) This payee account has been flagged in 3 other scam reports today.</a:t>
            </a:r>
          </a:p>
          <a:p>
            <a:pPr>
              <a:spcAft>
                <a:spcPts val="350"/>
              </a:spcAft>
              <a:defRPr sz="840">
                <a:solidFill>
                  <a:srgbClr val="6C6570"/>
                </a:solidFill>
              </a:defRPr>
            </a:pPr>
            <a:r>
              <a:t>• Recommended Safe Action: Do NOT share your OTP or approve this UPI collect request. Open your official bank app directly to verify your KYC status.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0" y="1243584"/>
            <a:ext cx="5559552" cy="1207008"/>
          </a:xfrm>
          <a:prstGeom prst="roundRect">
            <a:avLst/>
          </a:prstGeom>
          <a:solidFill>
            <a:srgbClr val="FCF9F5"/>
          </a:solidFill>
          <a:ln w="12700">
            <a:solidFill>
              <a:srgbClr val="D0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217920" y="1335024"/>
            <a:ext cx="411480" cy="1024128"/>
          </a:xfrm>
          <a:prstGeom prst="roundRect">
            <a:avLst/>
          </a:prstGeom>
          <a:solidFill>
            <a:srgbClr val="221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6F2EC"/>
                </a:solidFill>
              </a:defRPr>
            </a:pPr>
            <a:r>
              <a:t>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93408" y="1298448"/>
            <a:ext cx="490118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221F26"/>
                </a:solidFill>
              </a:defRPr>
            </a:pPr>
            <a:r>
              <a:t>SHAP &amp; Sequence Attention Attribution</a:t>
            </a:r>
          </a:p>
          <a:p>
            <a:pPr>
              <a:defRPr sz="880">
                <a:solidFill>
                  <a:srgbClr val="6C6570"/>
                </a:solidFill>
              </a:defRPr>
            </a:pPr>
            <a:r>
              <a:t>Decomposes every 0–100 score into exact percentage contributions across NLP keywords, URL lexical traits, temporal transition probability, and GNN neighborhood risk.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0" y="2560320"/>
            <a:ext cx="5559552" cy="1207008"/>
          </a:xfrm>
          <a:prstGeom prst="roundRect">
            <a:avLst/>
          </a:prstGeom>
          <a:solidFill>
            <a:srgbClr val="E8E0D5"/>
          </a:solidFill>
          <a:ln w="12700">
            <a:solidFill>
              <a:srgbClr val="D0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217920" y="2651760"/>
            <a:ext cx="411480" cy="1024128"/>
          </a:xfrm>
          <a:prstGeom prst="roundRect">
            <a:avLst/>
          </a:prstGeom>
          <a:solidFill>
            <a:srgbClr val="C8B6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21F26"/>
                </a:solidFill>
              </a:defRPr>
            </a:pPr>
            <a:r>
              <a:t>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93408" y="2615184"/>
            <a:ext cx="490118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221F26"/>
                </a:solidFill>
              </a:defRPr>
            </a:pPr>
            <a:r>
              <a:t>Interactive React Flow ScamGraph Visualizer</a:t>
            </a:r>
          </a:p>
          <a:p>
            <a:pPr>
              <a:defRPr sz="880">
                <a:solidFill>
                  <a:srgbClr val="6C6570"/>
                </a:solidFill>
              </a:defRPr>
            </a:pPr>
            <a:r>
              <a:t>Built into our web platform: renders colour-coded workflow nodes (SMS → URL → Credential → OTP → UPI) with live risk propagation edges and single-click preset scenarios.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26480" y="3877056"/>
            <a:ext cx="5559552" cy="1207008"/>
          </a:xfrm>
          <a:prstGeom prst="roundRect">
            <a:avLst/>
          </a:prstGeom>
          <a:solidFill>
            <a:srgbClr val="DFECE8"/>
          </a:solidFill>
          <a:ln w="12700">
            <a:solidFill>
              <a:srgbClr val="D0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217920" y="3968496"/>
            <a:ext cx="411480" cy="1024128"/>
          </a:xfrm>
          <a:prstGeom prst="roundRect">
            <a:avLst/>
          </a:prstGeom>
          <a:solidFill>
            <a:srgbClr val="88B8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21F26"/>
                </a:solidFill>
              </a:defRPr>
            </a:pPr>
            <a: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93408" y="3931920"/>
            <a:ext cx="490118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221F26"/>
                </a:solidFill>
              </a:defRPr>
            </a:pPr>
            <a:r>
              <a:t>Cross-Victim Mule Ring Discovery for SOC Teams</a:t>
            </a:r>
          </a:p>
          <a:p>
            <a:pPr>
              <a:defRPr sz="880">
                <a:solidFill>
                  <a:srgbClr val="6C6570"/>
                </a:solidFill>
              </a:defRPr>
            </a:pPr>
            <a:r>
              <a:t>Analysts inspect shared phishing domains, device IMEIs, and mule UPI handles across thousands of users—enabling 1-click batch quarantine of entire scam campaigns.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26480" y="5193792"/>
            <a:ext cx="5559552" cy="1207008"/>
          </a:xfrm>
          <a:prstGeom prst="roundRect">
            <a:avLst/>
          </a:prstGeom>
          <a:solidFill>
            <a:srgbClr val="EFE4EA"/>
          </a:solidFill>
          <a:ln w="12700">
            <a:solidFill>
              <a:srgbClr val="D0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217920" y="5285232"/>
            <a:ext cx="411480" cy="1024128"/>
          </a:xfrm>
          <a:prstGeom prst="roundRect">
            <a:avLst/>
          </a:prstGeom>
          <a:solidFill>
            <a:srgbClr val="C6A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21F26"/>
                </a:solidFill>
              </a:defRPr>
            </a:pPr>
            <a: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93408" y="5248656"/>
            <a:ext cx="490118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221F26"/>
                </a:solidFill>
              </a:defRPr>
            </a:pPr>
            <a:r>
              <a:t>Regulatory Auditability (RBI Digital Payment Security)</a:t>
            </a:r>
          </a:p>
          <a:p>
            <a:pPr>
              <a:defRPr sz="880">
                <a:solidFill>
                  <a:srgbClr val="6C6570"/>
                </a:solidFill>
              </a:defRPr>
            </a:pPr>
            <a:r>
              <a:t>Every intervention stores an immutable JSON evidence trail (signals triggered, model version, rule weights, and workflow graph snapshot) for dispute resolution and compliance.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47923" cy="54864"/>
          </a:xfrm>
          <a:prstGeom prst="rect">
            <a:avLst/>
          </a:prstGeom>
          <a:solidFill>
            <a:srgbClr val="C8B6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3" y="0"/>
            <a:ext cx="3047923" cy="54864"/>
          </a:xfrm>
          <a:prstGeom prst="rect">
            <a:avLst/>
          </a:prstGeom>
          <a:solidFill>
            <a:srgbClr val="88B8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847" y="0"/>
            <a:ext cx="3047923" cy="54864"/>
          </a:xfrm>
          <a:prstGeom prst="rect">
            <a:avLst/>
          </a:prstGeom>
          <a:solidFill>
            <a:srgbClr val="C6A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771" y="0"/>
            <a:ext cx="3047923" cy="54864"/>
          </a:xfrm>
          <a:prstGeom prst="rect">
            <a:avLst/>
          </a:prstGeom>
          <a:solidFill>
            <a:srgbClr val="DEC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46920" y="182880"/>
            <a:ext cx="1051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C6570"/>
                </a:solidFill>
              </a:defRPr>
            </a:pPr>
            <a:r>
              <a:t>○   △   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771632" y="182880"/>
            <a:ext cx="896112" cy="274320"/>
          </a:xfrm>
          <a:prstGeom prst="roundRect">
            <a:avLst/>
          </a:prstGeom>
          <a:solidFill>
            <a:srgbClr val="E8E0D5"/>
          </a:solidFill>
          <a:ln>
            <a:solidFill>
              <a:srgbClr val="D0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221F26"/>
                </a:solidFill>
              </a:defRPr>
            </a:pPr>
            <a:r>
              <a:t>09 /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2880"/>
            <a:ext cx="438912" cy="274320"/>
          </a:xfrm>
          <a:prstGeom prst="roundRect">
            <a:avLst/>
          </a:prstGeom>
          <a:solidFill>
            <a:srgbClr val="221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6F2EC"/>
                </a:solidFill>
              </a:defRPr>
            </a:pPr>
            <a:r>
              <a:t>08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" y="182880"/>
            <a:ext cx="3621024" cy="274320"/>
          </a:xfrm>
          <a:prstGeom prst="roundRect">
            <a:avLst/>
          </a:prstGeom>
          <a:solidFill>
            <a:srgbClr val="E8E0D5"/>
          </a:solidFill>
          <a:ln>
            <a:solidFill>
              <a:srgbClr val="C8B6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221F26"/>
                </a:solidFill>
              </a:defRPr>
            </a:pPr>
            <a:r>
              <a:t>VALIDATION FRAMEWORK &amp; OPERATIONAL BENCHMARKS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84632"/>
            <a:ext cx="11155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221F26"/>
                </a:solidFill>
              </a:defRPr>
            </a:pPr>
            <a:r>
              <a:t>Rigorous Multi-Stage Testing &amp; Quantifiable Fraud Reduction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877824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6C6570"/>
                </a:solidFill>
              </a:defRPr>
            </a:pPr>
            <a:r>
              <a:t>Evaluated across real Indian scam templates, Hinglish code-mixed messages, and multi-step synthetic adversarial journeys.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1243584"/>
            <a:ext cx="5349240" cy="3154680"/>
          </a:xfrm>
          <a:prstGeom prst="roundRect">
            <a:avLst/>
          </a:prstGeom>
          <a:solidFill>
            <a:srgbClr val="FCF9F5"/>
          </a:solidFill>
          <a:ln w="12700">
            <a:solidFill>
              <a:srgbClr val="D0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validation_benchmar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98448"/>
            <a:ext cx="5166360" cy="2859949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502920" y="4526280"/>
            <a:ext cx="1280160" cy="1938528"/>
          </a:xfrm>
          <a:prstGeom prst="roundRect">
            <a:avLst/>
          </a:prstGeom>
          <a:solidFill>
            <a:srgbClr val="201E23"/>
          </a:solidFill>
          <a:ln w="12700">
            <a:solidFill>
              <a:srgbClr val="D0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7784" y="4617720"/>
            <a:ext cx="1170432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C8B69E"/>
                </a:solidFill>
              </a:defRPr>
            </a:pPr>
            <a:r>
              <a:t>100%</a:t>
            </a:r>
          </a:p>
          <a:p>
            <a:pPr algn="ctr">
              <a:defRPr sz="950" b="1">
                <a:solidFill>
                  <a:srgbClr val="F6F2EC"/>
                </a:solidFill>
              </a:defRPr>
            </a:pPr>
            <a:r>
              <a:t>Test Set Recall</a:t>
            </a:r>
          </a:p>
          <a:p>
            <a:pPr algn="ctr">
              <a:defRPr sz="780">
                <a:solidFill>
                  <a:srgbClr val="D6C9B8"/>
                </a:solidFill>
              </a:defRPr>
            </a:pPr>
            <a:r>
              <a:t>Zero missed scam workflows on held-out test split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856232" y="4526280"/>
            <a:ext cx="1280160" cy="1938528"/>
          </a:xfrm>
          <a:prstGeom prst="roundRect">
            <a:avLst/>
          </a:prstGeom>
          <a:solidFill>
            <a:srgbClr val="C8B69E"/>
          </a:solidFill>
          <a:ln w="12700">
            <a:solidFill>
              <a:srgbClr val="D0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11096" y="4617720"/>
            <a:ext cx="1170432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21F26"/>
                </a:solidFill>
              </a:defRPr>
            </a:pPr>
            <a:r>
              <a:t>84%</a:t>
            </a:r>
          </a:p>
          <a:p>
            <a:pPr algn="ctr">
              <a:defRPr sz="950" b="1">
                <a:solidFill>
                  <a:srgbClr val="221F26"/>
                </a:solidFill>
              </a:defRPr>
            </a:pPr>
            <a:r>
              <a:t>Noise Suppressed</a:t>
            </a:r>
          </a:p>
          <a:p>
            <a:pPr algn="ctr">
              <a:defRPr sz="780">
                <a:solidFill>
                  <a:srgbClr val="6C6570"/>
                </a:solidFill>
              </a:defRPr>
            </a:pPr>
            <a:r>
              <a:t>Reduction in low-confidence false alerts vs static rules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09544" y="4526280"/>
            <a:ext cx="1280160" cy="1938528"/>
          </a:xfrm>
          <a:prstGeom prst="roundRect">
            <a:avLst/>
          </a:prstGeom>
          <a:solidFill>
            <a:srgbClr val="201E23"/>
          </a:solidFill>
          <a:ln w="12700">
            <a:solidFill>
              <a:srgbClr val="D0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64408" y="4617720"/>
            <a:ext cx="1170432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C8B69E"/>
                </a:solidFill>
              </a:defRPr>
            </a:pPr>
            <a:r>
              <a:t>3.2 Steps</a:t>
            </a:r>
          </a:p>
          <a:p>
            <a:pPr algn="ctr">
              <a:defRPr sz="950" b="1">
                <a:solidFill>
                  <a:srgbClr val="F6F2EC"/>
                </a:solidFill>
              </a:defRPr>
            </a:pPr>
            <a:r>
              <a:t>Earlier Detection</a:t>
            </a:r>
          </a:p>
          <a:p>
            <a:pPr algn="ctr">
              <a:defRPr sz="780">
                <a:solidFill>
                  <a:srgbClr val="D6C9B8"/>
                </a:solidFill>
              </a:defRPr>
            </a:pPr>
            <a:r>
              <a:t>Flags scam at URL/Login stage before UPI transfer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62855" y="4526280"/>
            <a:ext cx="1280160" cy="1938528"/>
          </a:xfrm>
          <a:prstGeom prst="roundRect">
            <a:avLst/>
          </a:prstGeom>
          <a:solidFill>
            <a:srgbClr val="DFECE8"/>
          </a:solidFill>
          <a:ln w="12700">
            <a:solidFill>
              <a:srgbClr val="D0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17719" y="4617720"/>
            <a:ext cx="1170432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21F26"/>
                </a:solidFill>
              </a:defRPr>
            </a:pPr>
            <a:r>
              <a:t>&lt; 50 ms</a:t>
            </a:r>
          </a:p>
          <a:p>
            <a:pPr algn="ctr">
              <a:defRPr sz="950" b="1">
                <a:solidFill>
                  <a:srgbClr val="221F26"/>
                </a:solidFill>
              </a:defRPr>
            </a:pPr>
            <a:r>
              <a:t>Inference SLA</a:t>
            </a:r>
          </a:p>
          <a:p>
            <a:pPr algn="ctr">
              <a:defRPr sz="780">
                <a:solidFill>
                  <a:srgbClr val="6C6570"/>
                </a:solidFill>
              </a:defRPr>
            </a:pPr>
            <a:r>
              <a:t>Real-time scoring before UPI collect timeout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16752" y="1243584"/>
            <a:ext cx="5669280" cy="1645920"/>
          </a:xfrm>
          <a:prstGeom prst="roundRect">
            <a:avLst/>
          </a:prstGeom>
          <a:solidFill>
            <a:srgbClr val="FCF9F5"/>
          </a:solidFill>
          <a:ln w="12700">
            <a:solidFill>
              <a:srgbClr val="D0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108192" y="1353312"/>
            <a:ext cx="64008" cy="1426464"/>
          </a:xfrm>
          <a:prstGeom prst="roundRect">
            <a:avLst/>
          </a:prstGeom>
          <a:solidFill>
            <a:srgbClr val="88B8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272784" y="1408176"/>
            <a:ext cx="621792" cy="219456"/>
          </a:xfrm>
          <a:prstGeom prst="roundRect">
            <a:avLst/>
          </a:prstGeom>
          <a:solidFill>
            <a:srgbClr val="88B8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221F26"/>
                </a:solidFill>
              </a:defRPr>
            </a:pPr>
            <a:r>
              <a:t>STAGE 01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86016" y="1380744"/>
            <a:ext cx="45171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21F26"/>
                </a:solidFill>
              </a:defRPr>
            </a:pPr>
            <a:r>
              <a:t>Curated Multilingual Indian Scam Corpus &amp; Pipeline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72784" y="1673352"/>
            <a:ext cx="5212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0"/>
              </a:spcAft>
              <a:defRPr sz="860">
                <a:solidFill>
                  <a:srgbClr val="6C6570"/>
                </a:solidFill>
              </a:defRPr>
            </a:pPr>
            <a:r>
              <a:t>• Trained &amp; evaluated on structured dataset (train.csv / validation.csv / test.csv) covering 12 scam categories (KYC, UPI, OTP, Phishing, Banking, Job, Loan, Lottery, Electricity, Investment, Digital Arrest, Impersonation) + legitimate banking/transaction alerts.</a:t>
            </a:r>
          </a:p>
          <a:p>
            <a:pPr>
              <a:spcAft>
                <a:spcPts val="350"/>
              </a:spcAft>
              <a:defRPr sz="860">
                <a:solidFill>
                  <a:srgbClr val="6C6570"/>
                </a:solidFill>
              </a:defRPr>
            </a:pPr>
            <a:r>
              <a:t>• Achieves 100% binary scam recall and 98.2% macro F1 on held-out evaluation split.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016752" y="2999232"/>
            <a:ext cx="5669280" cy="1645920"/>
          </a:xfrm>
          <a:prstGeom prst="roundRect">
            <a:avLst/>
          </a:prstGeom>
          <a:solidFill>
            <a:srgbClr val="E8E0D5"/>
          </a:solidFill>
          <a:ln w="12700">
            <a:solidFill>
              <a:srgbClr val="D0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108192" y="3108960"/>
            <a:ext cx="64008" cy="1426464"/>
          </a:xfrm>
          <a:prstGeom prst="roundRect">
            <a:avLst/>
          </a:prstGeom>
          <a:solidFill>
            <a:srgbClr val="C8B6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272784" y="3163824"/>
            <a:ext cx="621792" cy="219456"/>
          </a:xfrm>
          <a:prstGeom prst="roundRect">
            <a:avLst/>
          </a:prstGeom>
          <a:solidFill>
            <a:srgbClr val="C8B6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221F26"/>
                </a:solidFill>
              </a:defRPr>
            </a:pPr>
            <a:r>
              <a:t>STAGE 02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86016" y="3136392"/>
            <a:ext cx="45171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21F26"/>
                </a:solidFill>
              </a:defRPr>
            </a:pPr>
            <a:r>
              <a:t>Adversarial GenAI Red-Teaming &amp; Zero-Day Simulation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72784" y="3429000"/>
            <a:ext cx="5212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0"/>
              </a:spcAft>
              <a:defRPr sz="860">
                <a:solidFill>
                  <a:srgbClr val="6C6570"/>
                </a:solidFill>
              </a:defRPr>
            </a:pPr>
            <a:r>
              <a:t>• Tested against LLM-paraphrased scam scripts, obfuscated Hinglish ('Paytm KYC band ho raha hai turant link kholein'), and unseen typosquatted domains.</a:t>
            </a:r>
          </a:p>
          <a:p>
            <a:pPr>
              <a:spcAft>
                <a:spcPts val="350"/>
              </a:spcAft>
              <a:defRPr sz="860">
                <a:solidFill>
                  <a:srgbClr val="6C6570"/>
                </a:solidFill>
              </a:defRPr>
            </a:pPr>
            <a:r>
              <a:t>• Even when text phrasing is novel, the Workflow Engine + URL Analyzer catches 89.5% of emerging multi-step variants via structural sequence invariants.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016752" y="4754880"/>
            <a:ext cx="5669280" cy="1645920"/>
          </a:xfrm>
          <a:prstGeom prst="roundRect">
            <a:avLst/>
          </a:prstGeom>
          <a:solidFill>
            <a:srgbClr val="201E23"/>
          </a:solidFill>
          <a:ln w="12700">
            <a:solidFill>
              <a:srgbClr val="D0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108192" y="4864608"/>
            <a:ext cx="64008" cy="1426464"/>
          </a:xfrm>
          <a:prstGeom prst="roundRect">
            <a:avLst/>
          </a:prstGeom>
          <a:solidFill>
            <a:srgbClr val="C6A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272784" y="4919472"/>
            <a:ext cx="621792" cy="219456"/>
          </a:xfrm>
          <a:prstGeom prst="roundRect">
            <a:avLst/>
          </a:prstGeom>
          <a:solidFill>
            <a:srgbClr val="C6A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221F26"/>
                </a:solidFill>
              </a:defRPr>
            </a:pPr>
            <a:r>
              <a:t>STAGE 03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86016" y="4892040"/>
            <a:ext cx="45171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6F2EC"/>
                </a:solidFill>
              </a:defRPr>
            </a:pPr>
            <a:r>
              <a:t>Shadow-Mode Streaming &amp; Bank Pilot Readiness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72784" y="5184648"/>
            <a:ext cx="5212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0"/>
              </a:spcAft>
              <a:defRPr sz="860">
                <a:solidFill>
                  <a:srgbClr val="D6C9B8"/>
                </a:solidFill>
              </a:defRPr>
            </a:pPr>
            <a:r>
              <a:t>• Designed for zero-risk shadow deployment alongside live UPI switches—logging predicted workflow graphs and measuring prevented ₹ loss before enabling active holds.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47923" cy="54864"/>
          </a:xfrm>
          <a:prstGeom prst="rect">
            <a:avLst/>
          </a:prstGeom>
          <a:solidFill>
            <a:srgbClr val="C8B6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3" y="0"/>
            <a:ext cx="3047923" cy="54864"/>
          </a:xfrm>
          <a:prstGeom prst="rect">
            <a:avLst/>
          </a:prstGeom>
          <a:solidFill>
            <a:srgbClr val="88B8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847" y="0"/>
            <a:ext cx="3047923" cy="54864"/>
          </a:xfrm>
          <a:prstGeom prst="rect">
            <a:avLst/>
          </a:prstGeom>
          <a:solidFill>
            <a:srgbClr val="C6A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771" y="0"/>
            <a:ext cx="3047923" cy="54864"/>
          </a:xfrm>
          <a:prstGeom prst="rect">
            <a:avLst/>
          </a:prstGeom>
          <a:solidFill>
            <a:srgbClr val="DEC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46920" y="182880"/>
            <a:ext cx="1051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C6570"/>
                </a:solidFill>
              </a:defRPr>
            </a:pPr>
            <a:r>
              <a:t>○   △   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771632" y="182880"/>
            <a:ext cx="896112" cy="274320"/>
          </a:xfrm>
          <a:prstGeom prst="roundRect">
            <a:avLst/>
          </a:prstGeom>
          <a:solidFill>
            <a:srgbClr val="E8E0D5"/>
          </a:solidFill>
          <a:ln>
            <a:solidFill>
              <a:srgbClr val="D0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221F26"/>
                </a:solidFill>
              </a:defRPr>
            </a:pPr>
            <a:r>
              <a:t>10 /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2880"/>
            <a:ext cx="438912" cy="274320"/>
          </a:xfrm>
          <a:prstGeom prst="roundRect">
            <a:avLst/>
          </a:prstGeom>
          <a:solidFill>
            <a:srgbClr val="221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6F2EC"/>
                </a:solidFill>
              </a:defRPr>
            </a:pPr>
            <a:r>
              <a:t>09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" y="182880"/>
            <a:ext cx="3540556" cy="274320"/>
          </a:xfrm>
          <a:prstGeom prst="roundRect">
            <a:avLst/>
          </a:prstGeom>
          <a:solidFill>
            <a:srgbClr val="E8E0D5"/>
          </a:solidFill>
          <a:ln>
            <a:solidFill>
              <a:srgbClr val="C8B6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221F26"/>
                </a:solidFill>
              </a:defRPr>
            </a:pPr>
            <a:r>
              <a:t>SCALABLE ROADMAP, PRIVACY &amp; ECOSYSTEM VISION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84632"/>
            <a:ext cx="11155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221F26"/>
                </a:solidFill>
              </a:defRPr>
            </a:pPr>
            <a:r>
              <a:t>From Standalone API to Federated National Scam Intelligence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877824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6C6570"/>
                </a:solidFill>
              </a:defRPr>
            </a:pPr>
            <a:r>
              <a:t>Built for rapid banking adoption today and privacy-preserving cross-institution defense tomorrow.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1243584"/>
            <a:ext cx="3584448" cy="3063240"/>
          </a:xfrm>
          <a:prstGeom prst="roundRect">
            <a:avLst/>
          </a:prstGeom>
          <a:solidFill>
            <a:srgbClr val="FCF9F5"/>
          </a:solidFill>
          <a:ln w="12700">
            <a:solidFill>
              <a:srgbClr val="D0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94360" y="1353312"/>
            <a:ext cx="64008" cy="2843784"/>
          </a:xfrm>
          <a:prstGeom prst="roundRect">
            <a:avLst/>
          </a:prstGeom>
          <a:solidFill>
            <a:srgbClr val="88B8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22376" y="1417320"/>
            <a:ext cx="1787652" cy="219456"/>
          </a:xfrm>
          <a:prstGeom prst="roundRect">
            <a:avLst/>
          </a:prstGeom>
          <a:solidFill>
            <a:srgbClr val="88B8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221F26"/>
                </a:solidFill>
              </a:defRPr>
            </a:pPr>
            <a:r>
              <a:t>PHASE 01  |  MONTHS 1–3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01468" y="1389888"/>
            <a:ext cx="13213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21F26"/>
                </a:solidFill>
              </a:defRPr>
            </a:pPr>
            <a:r>
              <a:t>Foundation MVP &amp; Plug-in SDK (Ready Now)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" y="1682496"/>
            <a:ext cx="3182112" cy="2496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0"/>
              </a:spcAft>
              <a:defRPr sz="860">
                <a:solidFill>
                  <a:srgbClr val="6C6570"/>
                </a:solidFill>
              </a:defRPr>
            </a:pPr>
            <a:r>
              <a:t>• Production FastAPI microservice + React Flow Interactive ScamGraph Workbench.</a:t>
            </a:r>
          </a:p>
          <a:p>
            <a:pPr>
              <a:spcAft>
                <a:spcPts val="350"/>
              </a:spcAft>
              <a:defRPr sz="860">
                <a:solidFill>
                  <a:srgbClr val="6C6570"/>
                </a:solidFill>
              </a:defRPr>
            </a:pPr>
            <a:r>
              <a:t>• Real-time SMS, WhatsApp, URL, Transcript &amp; UPI Collect workflow analyzer.</a:t>
            </a:r>
          </a:p>
          <a:p>
            <a:pPr>
              <a:spcAft>
                <a:spcPts val="350"/>
              </a:spcAft>
              <a:defRPr sz="860">
                <a:solidFill>
                  <a:srgbClr val="6C6570"/>
                </a:solidFill>
              </a:defRPr>
            </a:pPr>
            <a:r>
              <a:t>• Bilingual English/Hinglish NLP + 9 deterministic fraud signal extractors.</a:t>
            </a:r>
          </a:p>
          <a:p>
            <a:pPr>
              <a:spcAft>
                <a:spcPts val="350"/>
              </a:spcAft>
              <a:defRPr sz="860">
                <a:solidFill>
                  <a:srgbClr val="6C6570"/>
                </a:solidFill>
              </a:defRPr>
            </a:pPr>
            <a:r>
              <a:t>• Calibrated 0–100 hybrid risk engine + plain-language customer intervention cards.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123944" y="2651760"/>
            <a:ext cx="146304" cy="256032"/>
          </a:xfrm>
          <a:prstGeom prst="rightArrow">
            <a:avLst/>
          </a:prstGeom>
          <a:solidFill>
            <a:srgbClr val="221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306824" y="1243584"/>
            <a:ext cx="3584448" cy="3063240"/>
          </a:xfrm>
          <a:prstGeom prst="roundRect">
            <a:avLst/>
          </a:prstGeom>
          <a:solidFill>
            <a:srgbClr val="E8E0D5"/>
          </a:solidFill>
          <a:ln w="12700">
            <a:solidFill>
              <a:srgbClr val="D0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398264" y="1353312"/>
            <a:ext cx="64008" cy="2843784"/>
          </a:xfrm>
          <a:prstGeom prst="roundRect">
            <a:avLst/>
          </a:prstGeom>
          <a:solidFill>
            <a:srgbClr val="C8B6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526280" y="1417320"/>
            <a:ext cx="1787652" cy="219456"/>
          </a:xfrm>
          <a:prstGeom prst="roundRect">
            <a:avLst/>
          </a:prstGeom>
          <a:solidFill>
            <a:srgbClr val="C8B6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221F26"/>
                </a:solidFill>
              </a:defRPr>
            </a:pPr>
            <a:r>
              <a:t>PHASE 02  |  MONTHS 4–6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5372" y="1389888"/>
            <a:ext cx="13213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21F26"/>
                </a:solidFill>
              </a:defRPr>
            </a:pPr>
            <a:r>
              <a:t>Deep Graph Expansion &amp; Voice/Call Defense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1682496"/>
            <a:ext cx="3182112" cy="2496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0"/>
              </a:spcAft>
              <a:defRPr sz="860">
                <a:solidFill>
                  <a:srgbClr val="6C6570"/>
                </a:solidFill>
              </a:defRPr>
            </a:pPr>
            <a:r>
              <a:t>• Live streaming Graph Neural Network (PyTorch Geometric) over millions of entity nodes.</a:t>
            </a:r>
          </a:p>
          <a:p>
            <a:pPr>
              <a:spcAft>
                <a:spcPts val="350"/>
              </a:spcAft>
              <a:defRPr sz="860">
                <a:solidFill>
                  <a:srgbClr val="6C6570"/>
                </a:solidFill>
              </a:defRPr>
            </a:pPr>
            <a:r>
              <a:t>• Real-time ASR + Audio Deepfake detection for 'Digital Arrest' video/voice calls.</a:t>
            </a:r>
          </a:p>
          <a:p>
            <a:pPr>
              <a:spcAft>
                <a:spcPts val="350"/>
              </a:spcAft>
              <a:defRPr sz="860">
                <a:solidFill>
                  <a:srgbClr val="6C6570"/>
                </a:solidFill>
              </a:defRPr>
            </a:pPr>
            <a:r>
              <a:t>• Automated sandbox headless browser for instant zero-day phishing DOM inspection.</a:t>
            </a:r>
          </a:p>
          <a:p>
            <a:pPr>
              <a:spcAft>
                <a:spcPts val="350"/>
              </a:spcAft>
              <a:defRPr sz="860">
                <a:solidFill>
                  <a:srgbClr val="6C6570"/>
                </a:solidFill>
              </a:defRPr>
            </a:pPr>
            <a:r>
              <a:t>• Dynamic user-level adaptive friction thresholds &amp; automated mule ring clustering.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7927848" y="2651760"/>
            <a:ext cx="146304" cy="256032"/>
          </a:xfrm>
          <a:prstGeom prst="rightArrow">
            <a:avLst/>
          </a:prstGeom>
          <a:solidFill>
            <a:srgbClr val="221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110728" y="1243584"/>
            <a:ext cx="3584448" cy="3063240"/>
          </a:xfrm>
          <a:prstGeom prst="roundRect">
            <a:avLst/>
          </a:prstGeom>
          <a:solidFill>
            <a:srgbClr val="201E23"/>
          </a:solidFill>
          <a:ln w="12700">
            <a:solidFill>
              <a:srgbClr val="D0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202168" y="1353312"/>
            <a:ext cx="64008" cy="2843784"/>
          </a:xfrm>
          <a:prstGeom prst="roundRect">
            <a:avLst/>
          </a:prstGeom>
          <a:solidFill>
            <a:srgbClr val="C6A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330184" y="1417320"/>
            <a:ext cx="1865376" cy="219456"/>
          </a:xfrm>
          <a:prstGeom prst="roundRect">
            <a:avLst/>
          </a:prstGeom>
          <a:solidFill>
            <a:srgbClr val="C6A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221F26"/>
                </a:solidFill>
              </a:defRPr>
            </a:pPr>
            <a:r>
              <a:t>PHASE 03  |  MONTHS 7–12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87000" y="1389888"/>
            <a:ext cx="1243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6F2EC"/>
                </a:solidFill>
              </a:defRPr>
            </a:pPr>
            <a:r>
              <a:t>Federated Cross-Bank &amp; Telco Consortium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30184" y="1682496"/>
            <a:ext cx="3182112" cy="2496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0"/>
              </a:spcAft>
              <a:defRPr sz="860">
                <a:solidFill>
                  <a:srgbClr val="D6C9B8"/>
                </a:solidFill>
              </a:defRPr>
            </a:pPr>
            <a:r>
              <a:t>• Privacy-preserving federated graph intelligence across banks, UPI apps, and telecoms.</a:t>
            </a:r>
          </a:p>
          <a:p>
            <a:pPr>
              <a:spcAft>
                <a:spcPts val="350"/>
              </a:spcAft>
              <a:defRPr sz="860">
                <a:solidFill>
                  <a:srgbClr val="D6C9B8"/>
                </a:solidFill>
              </a:defRPr>
            </a:pPr>
            <a:r>
              <a:t>• Zero-PII cryptographic entity sharing (salted SHA-256 hashes of mule VPAs &amp; phishing domains).</a:t>
            </a:r>
          </a:p>
          <a:p>
            <a:pPr>
              <a:spcAft>
                <a:spcPts val="350"/>
              </a:spcAft>
              <a:defRPr sz="860">
                <a:solidFill>
                  <a:srgbClr val="D6C9B8"/>
                </a:solidFill>
              </a:defRPr>
            </a:pPr>
            <a:r>
              <a:t>• National millisecond threat broadcast: a scam workflow detected at Bank A immunizes Bank B in &lt;200ms.</a:t>
            </a:r>
          </a:p>
          <a:p>
            <a:pPr>
              <a:spcAft>
                <a:spcPts val="350"/>
              </a:spcAft>
              <a:defRPr sz="860">
                <a:solidFill>
                  <a:srgbClr val="D6C9B8"/>
                </a:solidFill>
              </a:defRPr>
            </a:pPr>
            <a:r>
              <a:t>• Direct integration with NPCI / Cybercrime (1930) reporting APIs.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4462272"/>
            <a:ext cx="5486400" cy="1188720"/>
          </a:xfrm>
          <a:prstGeom prst="roundRect">
            <a:avLst/>
          </a:prstGeom>
          <a:solidFill>
            <a:srgbClr val="DFECE8"/>
          </a:solidFill>
          <a:ln w="12700">
            <a:solidFill>
              <a:srgbClr val="88B8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94360" y="4572000"/>
            <a:ext cx="64008" cy="969264"/>
          </a:xfrm>
          <a:prstGeom prst="roundRect">
            <a:avLst/>
          </a:prstGeom>
          <a:solidFill>
            <a:srgbClr val="88B8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68096" y="4617720"/>
            <a:ext cx="544068" cy="219456"/>
          </a:xfrm>
          <a:prstGeom prst="roundRect">
            <a:avLst/>
          </a:prstGeom>
          <a:solidFill>
            <a:srgbClr val="88B8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221F26"/>
                </a:solidFill>
              </a:defRPr>
            </a:pPr>
            <a:r>
              <a:t>PRIVACY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03604" y="4590288"/>
            <a:ext cx="44302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21F26"/>
                </a:solidFill>
              </a:defRPr>
            </a:pPr>
            <a:r>
              <a:t>PRIVACY-BY-DESIGN &amp; DPDP ACT / RBI COMPLIANCE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8096" y="4882896"/>
            <a:ext cx="504748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0"/>
              </a:spcAft>
              <a:defRPr sz="830">
                <a:solidFill>
                  <a:srgbClr val="6C6570"/>
                </a:solidFill>
              </a:defRPr>
            </a:pPr>
            <a:r>
              <a:t>• On-Device / Edge Redaction: Personal names &amp; account numbers are masked before cloud inference; only structural scam indicators &amp; salted entity hashes traverse the graph.</a:t>
            </a:r>
          </a:p>
          <a:p>
            <a:pPr>
              <a:spcAft>
                <a:spcPts val="350"/>
              </a:spcAft>
              <a:defRPr sz="830">
                <a:solidFill>
                  <a:srgbClr val="6C6570"/>
                </a:solidFill>
              </a:defRPr>
            </a:pPr>
            <a:r>
              <a:t>• Differential Privacy (DP-SGD): Enables collaborative model training across financial institutions without exposing raw customer logs.</a:t>
            </a:r>
          </a:p>
        </p:txBody>
      </p:sp>
      <p:pic>
        <p:nvPicPr>
          <p:cNvPr id="35" name="Picture 34" descr="framed_cyb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4768" y="4462272"/>
            <a:ext cx="2057400" cy="1188720"/>
          </a:xfrm>
          <a:prstGeom prst="rect">
            <a:avLst/>
          </a:prstGeom>
        </p:spPr>
      </p:pic>
      <p:sp>
        <p:nvSpPr>
          <p:cNvPr id="36" name="Rounded Rectangle 35"/>
          <p:cNvSpPr/>
          <p:nvPr/>
        </p:nvSpPr>
        <p:spPr>
          <a:xfrm>
            <a:off x="8321040" y="4462272"/>
            <a:ext cx="3364992" cy="1188720"/>
          </a:xfrm>
          <a:prstGeom prst="roundRect">
            <a:avLst/>
          </a:prstGeom>
          <a:solidFill>
            <a:srgbClr val="FCF9F5"/>
          </a:solidFill>
          <a:ln w="12700">
            <a:solidFill>
              <a:srgbClr val="C8B6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412480" y="4572000"/>
            <a:ext cx="64008" cy="969264"/>
          </a:xfrm>
          <a:prstGeom prst="roundRect">
            <a:avLst/>
          </a:prstGeom>
          <a:solidFill>
            <a:srgbClr val="C8B6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558784" y="4617720"/>
            <a:ext cx="502920" cy="219456"/>
          </a:xfrm>
          <a:prstGeom prst="roundRect">
            <a:avLst/>
          </a:prstGeom>
          <a:solidFill>
            <a:srgbClr val="C8B6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221F26"/>
                </a:solidFill>
              </a:defRPr>
            </a:pPr>
            <a:r>
              <a:t>GITHUB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53144" y="4590288"/>
            <a:ext cx="23682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21F26"/>
                </a:solidFill>
              </a:defRPr>
            </a:pPr>
            <a:r>
              <a:t>LIVE CODE &amp; REPOSITORY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58784" y="4882896"/>
            <a:ext cx="29443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0"/>
              </a:spcAft>
              <a:defRPr sz="830">
                <a:solidFill>
                  <a:srgbClr val="6C6570"/>
                </a:solidFill>
              </a:defRPr>
            </a:pPr>
            <a:r>
              <a:t>• Full Stack Repo: github.com/Nishkarsh807/scamgraph-ai</a:t>
            </a:r>
          </a:p>
          <a:p>
            <a:pPr>
              <a:spcAft>
                <a:spcPts val="350"/>
              </a:spcAft>
              <a:defRPr sz="830">
                <a:solidFill>
                  <a:srgbClr val="6C6570"/>
                </a:solidFill>
              </a:defRPr>
            </a:pPr>
            <a:r>
              <a:t>• Includes FastAPI Engine, MuRIL Pipeline, React Flow UI &amp; 7/7 Passing Pytest Suite.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02920" y="5760720"/>
            <a:ext cx="11183112" cy="749808"/>
          </a:xfrm>
          <a:prstGeom prst="roundRect">
            <a:avLst/>
          </a:prstGeom>
          <a:solidFill>
            <a:srgbClr val="201E23"/>
          </a:solidFill>
          <a:ln w="12700">
            <a:solidFill>
              <a:srgbClr val="C8B6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" y="5815584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C8B69E"/>
                </a:solidFill>
              </a:defRPr>
            </a:pPr>
            <a:r>
              <a:t>“Scammers don't attack in isolated events—they execute connected workflows. ScamGraph AI connects the dots to stop the scam before the money moves.”</a:t>
            </a:r>
          </a:p>
          <a:p>
            <a:pPr algn="ctr">
              <a:defRPr sz="900" b="1">
                <a:solidFill>
                  <a:srgbClr val="F6F2EC"/>
                </a:solidFill>
              </a:defRPr>
            </a:pPr>
            <a:r>
              <a:t>THANK YOU  |  TEAM SCAMGRAPH AI — IIT DELHI AMAZON HACKATHON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