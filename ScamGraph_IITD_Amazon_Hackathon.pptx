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01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4082796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IIT DELHI • AMAZON HACKATHON  |  TEAM SCAMGRAPH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ScamGraph — Detect the scam journey, not just the transaction.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Team Lead: Nishkarsh Singh  •  Problem Track: AI-Driven Multi-Stage Scam Pattern &amp; Journey Recognition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06424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1463040"/>
            <a:ext cx="1938528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PROBLEM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746504"/>
            <a:ext cx="1073505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The Problem: AI-Enabled Financial Scams Are Multi-Stage Attacks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3F2E46"/>
                </a:solidFill>
              </a:rPr>
              <a:t>Why individual events fool legacy systems: </a:t>
            </a:r>
            <a:r>
              <a:rPr sz="1050">
                <a:solidFill>
                  <a:srgbClr val="76687D"/>
                </a:solidFill>
              </a:rPr>
              <a:t>A new device can be legitimate. Adding a beneficiary can be legitimate. A large transaction or UPI request can be legitimate. But their sequence, timing, and relationships reveal a coordinated scam.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43200"/>
            <a:ext cx="1627632" cy="1005840"/>
          </a:xfrm>
          <a:prstGeom prst="roundRect">
            <a:avLst/>
          </a:prstGeom>
          <a:solidFill>
            <a:srgbClr val="E5F2EF"/>
          </a:solidFill>
          <a:ln w="19050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F2E46"/>
                </a:solidFill>
              </a:defRPr>
            </a:pPr>
            <a:r>
              <a:t>01. Fake KYC SMS</a:t>
            </a:r>
          </a:p>
          <a:p>
            <a:pPr algn="ctr">
              <a:defRPr sz="850">
                <a:solidFill>
                  <a:srgbClr val="76687D"/>
                </a:solidFill>
              </a:defRPr>
            </a:pPr>
            <a:r>
              <a:t>Looks like routine alert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12848" y="3127248"/>
            <a:ext cx="164592" cy="201168"/>
          </a:xfrm>
          <a:prstGeom prst="rightArrow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23160" y="2743200"/>
            <a:ext cx="1627632" cy="1005840"/>
          </a:xfrm>
          <a:prstGeom prst="roundRect">
            <a:avLst/>
          </a:prstGeom>
          <a:solidFill>
            <a:srgbClr val="E5F2EF"/>
          </a:solidFill>
          <a:ln w="19050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F2E46"/>
                </a:solidFill>
              </a:defRPr>
            </a:pPr>
            <a:r>
              <a:t>02. Phishing URL</a:t>
            </a:r>
          </a:p>
          <a:p>
            <a:pPr algn="ctr">
              <a:defRPr sz="850">
                <a:solidFill>
                  <a:srgbClr val="76687D"/>
                </a:solidFill>
              </a:defRPr>
            </a:pPr>
            <a:r>
              <a:t>Mimics bank portal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87368" y="3127248"/>
            <a:ext cx="164592" cy="201168"/>
          </a:xfrm>
          <a:prstGeom prst="rightArrow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79" y="2743200"/>
            <a:ext cx="1627632" cy="1005840"/>
          </a:xfrm>
          <a:prstGeom prst="roundRect">
            <a:avLst/>
          </a:prstGeom>
          <a:solidFill>
            <a:srgbClr val="ECF3E4"/>
          </a:solidFill>
          <a:ln w="19050">
            <a:solidFill>
              <a:srgbClr val="B6C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F2E46"/>
                </a:solidFill>
              </a:defRPr>
            </a:pPr>
            <a:r>
              <a:t>03. New Device</a:t>
            </a:r>
          </a:p>
          <a:p>
            <a:pPr algn="ctr">
              <a:defRPr sz="850">
                <a:solidFill>
                  <a:srgbClr val="76687D"/>
                </a:solidFill>
              </a:defRPr>
            </a:pPr>
            <a:r>
              <a:t>Looks like phone upgrade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61887" y="3127248"/>
            <a:ext cx="164592" cy="201168"/>
          </a:xfrm>
          <a:prstGeom prst="rightArrow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72199" y="2743200"/>
            <a:ext cx="1627632" cy="1005840"/>
          </a:xfrm>
          <a:prstGeom prst="roundRect">
            <a:avLst/>
          </a:prstGeom>
          <a:solidFill>
            <a:srgbClr val="F2ECE4"/>
          </a:solidFill>
          <a:ln w="19050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F2E46"/>
                </a:solidFill>
              </a:defRPr>
            </a:pPr>
            <a:r>
              <a:t>04. New Beneficiary</a:t>
            </a:r>
          </a:p>
          <a:p>
            <a:pPr algn="ctr">
              <a:defRPr sz="850">
                <a:solidFill>
                  <a:srgbClr val="76687D"/>
                </a:solidFill>
              </a:defRPr>
            </a:pPr>
            <a:r>
              <a:t>Looks like normal payee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36407" y="3127248"/>
            <a:ext cx="164592" cy="201168"/>
          </a:xfrm>
          <a:prstGeom prst="rightArrow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19" y="2743200"/>
            <a:ext cx="1627632" cy="1005840"/>
          </a:xfrm>
          <a:prstGeom prst="roundRect">
            <a:avLst/>
          </a:prstGeom>
          <a:solidFill>
            <a:srgbClr val="FDEFE0"/>
          </a:solidFill>
          <a:ln w="19050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F2E46"/>
                </a:solidFill>
              </a:defRPr>
            </a:pPr>
            <a:r>
              <a:t>05. UPI Request</a:t>
            </a:r>
          </a:p>
          <a:p>
            <a:pPr algn="ctr">
              <a:defRPr sz="850">
                <a:solidFill>
                  <a:srgbClr val="76687D"/>
                </a:solidFill>
              </a:defRPr>
            </a:pPr>
            <a:r>
              <a:t>Looks like normal collect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710927" y="3127248"/>
            <a:ext cx="164592" cy="201168"/>
          </a:xfrm>
          <a:prstGeom prst="rightArrow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921240" y="2743200"/>
            <a:ext cx="1627632" cy="1005840"/>
          </a:xfrm>
          <a:prstGeom prst="roundRect">
            <a:avLst/>
          </a:prstGeom>
          <a:solidFill>
            <a:srgbClr val="EEE9F6"/>
          </a:solidFill>
          <a:ln w="19050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F2E46"/>
                </a:solidFill>
              </a:defRPr>
            </a:pPr>
            <a:r>
              <a:t>06. Large Payment</a:t>
            </a:r>
          </a:p>
          <a:p>
            <a:pPr algn="ctr">
              <a:defRPr sz="850">
                <a:solidFill>
                  <a:srgbClr val="76687D"/>
                </a:solidFill>
              </a:defRPr>
            </a:pPr>
            <a:r>
              <a:t>₹1,50,000 drained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77639"/>
            <a:ext cx="3520440" cy="2377440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3232" y="4114799"/>
            <a:ext cx="1335024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CURRENT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398263"/>
            <a:ext cx="31912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Transaction-Level Detection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3F2E46"/>
                </a:solidFill>
              </a:rPr>
              <a:t>Asks: </a:t>
            </a:r>
            <a:r>
              <a:rPr sz="1150">
                <a:solidFill>
                  <a:srgbClr val="76687D"/>
                </a:solidFill>
              </a:rPr>
              <a:t>"Is this single transaction suspicious?"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F2E46"/>
                </a:solidFill>
              </a:rPr>
              <a:t>Limitation: </a:t>
            </a:r>
            <a:r>
              <a:rPr sz="1000">
                <a:solidFill>
                  <a:srgbClr val="76687D"/>
                </a:solidFill>
              </a:rPr>
              <a:t>Misses early attack stages (phishing, device bind) and triggers only when money is already moving.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77639"/>
            <a:ext cx="3520440" cy="2377440"/>
          </a:xfrm>
          <a:prstGeom prst="roundRect">
            <a:avLst/>
          </a:prstGeom>
          <a:solidFill>
            <a:srgbClr val="E5F2E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80560" y="4114799"/>
            <a:ext cx="1435608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OUR APPROACH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398263"/>
            <a:ext cx="31912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Journey-Level Intelligence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3F2E46"/>
                </a:solidFill>
              </a:rPr>
              <a:t>ScamGraph Asks: </a:t>
            </a:r>
            <a:r>
              <a:rPr sz="1150">
                <a:solidFill>
                  <a:srgbClr val="76687D"/>
                </a:solidFill>
              </a:rPr>
              <a:t>"Do these connected events form a credible scam journey?"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F2E46"/>
                </a:solidFill>
              </a:rPr>
              <a:t>Advantage: </a:t>
            </a:r>
            <a:r>
              <a:rPr sz="1000">
                <a:solidFill>
                  <a:srgbClr val="76687D"/>
                </a:solidFill>
              </a:rPr>
              <a:t>Correlates device, URL, beneficiary, and timing into one unified attack graph.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977639"/>
            <a:ext cx="3520440" cy="2377440"/>
          </a:xfrm>
          <a:prstGeom prst="roundRect">
            <a:avLst/>
          </a:prstGeom>
          <a:solidFill>
            <a:srgbClr val="EEE9F6"/>
          </a:solidFill>
          <a:ln w="15875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57032" y="4114799"/>
            <a:ext cx="1033271" cy="256032"/>
          </a:xfrm>
          <a:prstGeom prst="roundRect">
            <a:avLst/>
          </a:prstGeom>
          <a:solidFill>
            <a:srgbClr val="BAA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OUR GOAL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2" y="4398263"/>
            <a:ext cx="31912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Proactive &amp; Low-Noise Defense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F2E46"/>
                </a:solidFill>
              </a:rPr>
              <a:t>Objective: </a:t>
            </a:r>
            <a:r>
              <a:rPr sz="1100">
                <a:solidFill>
                  <a:srgbClr val="76687D"/>
                </a:solidFill>
              </a:rPr>
              <a:t>Detect emerging scam workflows early, while reducing unnecessary alerts to legitimate users.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F2E46"/>
                </a:solidFill>
              </a:rPr>
              <a:t>Impact: </a:t>
            </a:r>
            <a:r>
              <a:rPr sz="1000">
                <a:solidFill>
                  <a:srgbClr val="76687D"/>
                </a:solidFill>
              </a:rPr>
              <a:t>High fraud recall without alert fatigue.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02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011680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STAKEHOLDER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Who Are We Protecting?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Empowering Fraud Operations Teams while safeguarding everyday Banking &amp; UPI customers.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4206240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1463040"/>
            <a:ext cx="2642616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PRIMARY USERS • ANALYSTS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746504"/>
            <a:ext cx="387705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Fraud &amp; Security Operations Teams</a:t>
            </a:r>
          </a:p>
          <a:p>
            <a:pPr>
              <a:defRPr sz="1000">
                <a:solidFill>
                  <a:srgbClr val="76687D"/>
                </a:solidFill>
              </a:defRPr>
            </a:pPr>
            <a:r>
              <a:t>What SecOps &amp; Fraud Teams need to execute: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3F2E46"/>
                </a:solidFill>
              </a:rPr>
              <a:t>• 01. Detect Emerging Campaigns: </a:t>
            </a:r>
            <a:r>
              <a:rPr sz="1050">
                <a:solidFill>
                  <a:srgbClr val="76687D"/>
                </a:solidFill>
              </a:rPr>
              <a:t>Spot new AI-generated phishing &amp; KYC waves early.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3F2E46"/>
                </a:solidFill>
              </a:rPr>
              <a:t>• 02. Prioritize High-Risk Incidents: </a:t>
            </a:r>
            <a:r>
              <a:rPr sz="1050">
                <a:solidFill>
                  <a:srgbClr val="76687D"/>
                </a:solidFill>
              </a:rPr>
              <a:t>Focus analyst time on 80+ score multi-stage journeys.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3F2E46"/>
                </a:solidFill>
              </a:rPr>
              <a:t>• 03. Understand Attack Unfolding: </a:t>
            </a:r>
            <a:r>
              <a:rPr sz="1050">
                <a:solidFill>
                  <a:srgbClr val="76687D"/>
                </a:solidFill>
              </a:rPr>
              <a:t>See the exact chronological chain from link to payment.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3F2E46"/>
                </a:solidFill>
              </a:rPr>
              <a:t>• 04. Investigate Connected Entities: </a:t>
            </a:r>
            <a:r>
              <a:rPr sz="1050">
                <a:solidFill>
                  <a:srgbClr val="76687D"/>
                </a:solidFill>
              </a:rPr>
              <a:t>Traverse shared devices, URLs, and mule beneficiaries.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3F2E46"/>
                </a:solidFill>
              </a:rPr>
              <a:t>• 05. Decide When to Escalate: </a:t>
            </a:r>
            <a:r>
              <a:rPr sz="1050">
                <a:solidFill>
                  <a:srgbClr val="76687D"/>
                </a:solidFill>
              </a:rPr>
              <a:t>Enforce policy holds or trigger dispute recovery.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1920240"/>
            <a:ext cx="2194560" cy="3840480"/>
          </a:xfrm>
          <a:prstGeom prst="roundRect">
            <a:avLst/>
          </a:prstGeom>
          <a:solidFill>
            <a:srgbClr val="F2ECE4"/>
          </a:solidFill>
          <a:ln w="19050">
            <a:solidFill>
              <a:srgbClr val="3F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F2E46"/>
                </a:solidFill>
              </a:defRPr>
            </a:pPr>
            <a:r>
              <a:t>SCAMGRAPH</a:t>
            </a:r>
            <a:br/>
            <a:r>
              <a:t>BRIDGE</a:t>
            </a:r>
          </a:p>
          <a:p>
            <a:pPr algn="ctr">
              <a:defRPr sz="1000" b="1">
                <a:solidFill>
                  <a:srgbClr val="3F2E46"/>
                </a:solidFill>
              </a:defRPr>
            </a:pPr>
            <a:r>
              <a:t>Ingests Signals</a:t>
            </a:r>
          </a:p>
          <a:p>
            <a:pPr algn="ctr">
              <a:defRPr sz="1000" b="0">
                <a:solidFill>
                  <a:srgbClr val="76687D"/>
                </a:solidFill>
              </a:defRPr>
            </a:pPr>
            <a:r>
              <a:t>↕</a:t>
            </a:r>
          </a:p>
          <a:p>
            <a:pPr algn="ctr">
              <a:defRPr sz="1000" b="1">
                <a:solidFill>
                  <a:srgbClr val="3F2E46"/>
                </a:solidFill>
              </a:defRPr>
            </a:pPr>
            <a:r>
              <a:t>Builds Attack Graph</a:t>
            </a:r>
          </a:p>
          <a:p>
            <a:pPr algn="ctr">
              <a:defRPr sz="1000" b="0">
                <a:solidFill>
                  <a:srgbClr val="76687D"/>
                </a:solidFill>
              </a:defRPr>
            </a:pPr>
            <a:r>
              <a:t>↕</a:t>
            </a:r>
          </a:p>
          <a:p>
            <a:pPr algn="ctr">
              <a:defRPr sz="1000" b="1">
                <a:solidFill>
                  <a:srgbClr val="3F2E46"/>
                </a:solidFill>
              </a:defRPr>
            </a:pPr>
            <a:r>
              <a:t>Scores Journey</a:t>
            </a:r>
          </a:p>
          <a:p>
            <a:pPr algn="ctr">
              <a:defRPr sz="1000" b="0">
                <a:solidFill>
                  <a:srgbClr val="76687D"/>
                </a:solidFill>
              </a:defRPr>
            </a:pPr>
            <a:r>
              <a:t>↕</a:t>
            </a:r>
          </a:p>
          <a:p>
            <a:pPr algn="ctr">
              <a:defRPr sz="1000" b="1">
                <a:solidFill>
                  <a:srgbClr val="3F2E46"/>
                </a:solidFill>
              </a:defRPr>
            </a:pPr>
            <a:r>
              <a:t>Protects Both Sides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325880"/>
            <a:ext cx="4206240" cy="5029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71232" y="1463040"/>
            <a:ext cx="2340864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END USERS • 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2" y="1746504"/>
            <a:ext cx="387705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Banking / UPI / Wallet Customers</a:t>
            </a:r>
          </a:p>
          <a:p>
            <a:pPr>
              <a:defRPr sz="1000">
                <a:solidFill>
                  <a:srgbClr val="76687D"/>
                </a:solidFill>
              </a:defRPr>
            </a:pPr>
            <a:r>
              <a:t>What everyday digital payment users need:</a:t>
            </a:r>
          </a:p>
          <a:p>
            <a:pPr>
              <a:spcBef>
                <a:spcPts val="1400"/>
              </a:spcBef>
            </a:pPr>
            <a:r>
              <a:rPr b="1" sz="1050">
                <a:solidFill>
                  <a:srgbClr val="3F2E46"/>
                </a:solidFill>
              </a:rPr>
              <a:t>• 01. Timely Warnings: </a:t>
            </a:r>
            <a:r>
              <a:rPr sz="1050">
                <a:solidFill>
                  <a:srgbClr val="76687D"/>
                </a:solidFill>
              </a:rPr>
              <a:t>Intervene before the UPI PIN is entered or money leaves.</a:t>
            </a:r>
          </a:p>
          <a:p>
            <a:pPr>
              <a:spcBef>
                <a:spcPts val="1400"/>
              </a:spcBef>
            </a:pPr>
            <a:r>
              <a:rPr b="1" sz="1050">
                <a:solidFill>
                  <a:srgbClr val="3F2E46"/>
                </a:solidFill>
              </a:rPr>
              <a:t>• 02. Understandable Explanations: </a:t>
            </a:r>
            <a:r>
              <a:rPr sz="1050">
                <a:solidFill>
                  <a:srgbClr val="76687D"/>
                </a:solidFill>
              </a:rPr>
              <a:t>Clear plain-language reasons why an interaction is risky.</a:t>
            </a:r>
          </a:p>
          <a:p>
            <a:pPr>
              <a:spcBef>
                <a:spcPts val="1400"/>
              </a:spcBef>
            </a:pPr>
            <a:r>
              <a:rPr b="1" sz="1050">
                <a:solidFill>
                  <a:srgbClr val="3F2E46"/>
                </a:solidFill>
              </a:rPr>
              <a:t>• 03. Minimal Disruption: </a:t>
            </a:r>
            <a:r>
              <a:rPr sz="1050">
                <a:solidFill>
                  <a:srgbClr val="76687D"/>
                </a:solidFill>
              </a:rPr>
              <a:t>Silent allow on routine payments; zero unnecessary friction.</a:t>
            </a:r>
          </a:p>
          <a:p>
            <a:pPr>
              <a:spcBef>
                <a:spcPts val="1400"/>
              </a:spcBef>
            </a:pPr>
            <a:r>
              <a:rPr b="1" sz="1050">
                <a:solidFill>
                  <a:srgbClr val="3F2E46"/>
                </a:solidFill>
              </a:rPr>
              <a:t>• 04. Strong Risky-Txn Protection: </a:t>
            </a:r>
            <a:r>
              <a:rPr sz="1050">
                <a:solidFill>
                  <a:srgbClr val="76687D"/>
                </a:solidFill>
              </a:rPr>
              <a:t>Step-up verification or protective hold on ₹1.5L scam drains.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03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011680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THREAT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AI-Enabled Fake KYC Scam Funnel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No single event proves fraud. The sequence does. ScamGraph reconstructs and evaluates the entire funnel.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5120640" cy="5120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479145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12" name="Picture 1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5031603" cy="4892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897880" y="1280160"/>
            <a:ext cx="5715000" cy="1600200"/>
          </a:xfrm>
          <a:prstGeom prst="roundRect">
            <a:avLst/>
          </a:prstGeom>
          <a:solidFill>
            <a:srgbClr val="FDEFE0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62472" y="1417320"/>
            <a:ext cx="3044952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THE SEQUENCE IS THE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1700784"/>
            <a:ext cx="5385816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Detection Challenge: Why Isolated Checks Miss This Attack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F2E46"/>
                </a:solidFill>
              </a:rPr>
              <a:t>• Individual Events Look Normal: </a:t>
            </a:r>
            <a:r>
              <a:rPr sz="1000">
                <a:solidFill>
                  <a:srgbClr val="76687D"/>
                </a:solidFill>
              </a:rPr>
              <a:t>Logging in on a new phone, adding a payee, or approving a UPI collect request happens millions of times daily.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F2E46"/>
                </a:solidFill>
              </a:rPr>
              <a:t>• ScamGraph Reconstruction: </a:t>
            </a:r>
            <a:r>
              <a:rPr sz="1000">
                <a:solidFill>
                  <a:srgbClr val="76687D"/>
                </a:solidFill>
              </a:rPr>
              <a:t>By linking the phishing click -&gt; device bind (3m later) -&gt; beneficiary add (2m later) -&gt; ₹1.5L collect (1m later), ScamGraph exposes the attack.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3063240"/>
            <a:ext cx="5715000" cy="3337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2" y="3191256"/>
            <a:ext cx="5385816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18" name="Picture 17" descr="journey_esca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154680"/>
            <a:ext cx="5440680" cy="31654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04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171700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INTELLIGENCE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ScamGraph: A Journey-Level Scam Intelligence Layer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Connecting authorized financial and security signals into a time-aware attack graph.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3547872" cy="1847088"/>
          </a:xfrm>
          <a:prstGeom prst="roundRect">
            <a:avLst/>
          </a:prstGeom>
          <a:solidFill>
            <a:srgbClr val="E5F2E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1417320"/>
            <a:ext cx="1234440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1. OBSERVE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700784"/>
            <a:ext cx="321868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Collect Structured Signals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Device changes</a:t>
            </a:r>
            <a:br/>
            <a:r>
              <a:t>• Beneficiary changes</a:t>
            </a:r>
            <a:br/>
            <a:r>
              <a:t>• Transactions &amp; Auth events</a:t>
            </a:r>
            <a:br/>
            <a:r>
              <a:t>• Suspicious URLs / Account activity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280160"/>
            <a:ext cx="3547872" cy="1847088"/>
          </a:xfrm>
          <a:prstGeom prst="roundRect">
            <a:avLst/>
          </a:prstGeom>
          <a:solidFill>
            <a:srgbClr val="ECF3E4"/>
          </a:solidFill>
          <a:ln w="15875">
            <a:solidFill>
              <a:srgbClr val="B6C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417320"/>
            <a:ext cx="1234440" cy="256032"/>
          </a:xfrm>
          <a:prstGeom prst="round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2. 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00784"/>
            <a:ext cx="321868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Build Entity Relationships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User ↔ Device</a:t>
            </a:r>
            <a:br/>
            <a:r>
              <a:t>• Device ↔ Beneficiary</a:t>
            </a:r>
            <a:br/>
            <a:r>
              <a:t>• URL ↔ Transaction ↔ Time</a:t>
            </a:r>
            <a:br/>
            <a:r>
              <a:t>• Unified time-aware graph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280160"/>
            <a:ext cx="3547872" cy="1847088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47888" y="1417320"/>
            <a:ext cx="1536192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3. UNDERSTAND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700784"/>
            <a:ext cx="321868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Multi-Modal Analysis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Deterministic Rules</a:t>
            </a:r>
            <a:br/>
            <a:r>
              <a:t>• Behavioral baseline analysis</a:t>
            </a:r>
            <a:br/>
            <a:r>
              <a:t>• Sequence &amp; velocity analysis</a:t>
            </a:r>
            <a:br/>
            <a:r>
              <a:t>• Graph topology + AI recognition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10128"/>
            <a:ext cx="3547872" cy="1847088"/>
          </a:xfrm>
          <a:prstGeom prst="roundRect">
            <a:avLst/>
          </a:prstGeom>
          <a:solidFill>
            <a:srgbClr val="FDEFE0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3447288"/>
            <a:ext cx="1033271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4.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730752"/>
            <a:ext cx="321868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Explainable Risk Score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Calibrated 0–100 Scam Risk Score</a:t>
            </a:r>
            <a:br/>
            <a:r>
              <a:t>• Evaluates sequence tightness</a:t>
            </a:r>
            <a:br/>
            <a:r>
              <a:t>• Weighs confidence &amp; impact</a:t>
            </a:r>
            <a:br/>
            <a:r>
              <a:t>• Transparent evidence reasons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310128"/>
            <a:ext cx="3547872" cy="1847088"/>
          </a:xfrm>
          <a:prstGeom prst="roundRect">
            <a:avLst/>
          </a:prstGeom>
          <a:solidFill>
            <a:srgbClr val="EEE9F6"/>
          </a:solidFill>
          <a:ln w="15875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80560" y="3447288"/>
            <a:ext cx="832104" cy="256032"/>
          </a:xfrm>
          <a:prstGeom prst="roundRect">
            <a:avLst/>
          </a:prstGeom>
          <a:solidFill>
            <a:srgbClr val="BAA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5. 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730752"/>
            <a:ext cx="321868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Adaptive Intervention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Low (0–29) → Monitor</a:t>
            </a:r>
            <a:br/>
            <a:r>
              <a:t>• Medium (30–59) → Verify</a:t>
            </a:r>
            <a:br/>
            <a:r>
              <a:t>• High (60–79) → Step-up Auth</a:t>
            </a:r>
            <a:br/>
            <a:r>
              <a:t>• Critical (80–100) → Hold / Escalate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3296" y="3310128"/>
            <a:ext cx="3547872" cy="18470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47888" y="3447288"/>
            <a:ext cx="1234440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6. RESPOND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3730752"/>
            <a:ext cx="321868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Case &amp; Recovery Loop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ScamGraph → Evidence Packet</a:t>
            </a:r>
            <a:br/>
            <a:r>
              <a:t>• Automated Case Creation</a:t>
            </a:r>
            <a:br/>
            <a:r>
              <a:t>• Analyst Investigation Graph</a:t>
            </a:r>
            <a:br/>
            <a:r>
              <a:t>• Dispute / Recovery Workflow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0680"/>
            <a:ext cx="11064240" cy="868680"/>
          </a:xfrm>
          <a:prstGeom prst="roundRect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3C778"/>
                </a:solidFill>
              </a:defRPr>
            </a:pPr>
            <a:r>
              <a:t>CORE PRINCIPLE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"We don't alert on anomalies. We alert when anomalies form a credible scam journey."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05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084832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5-LAYER DETECTION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How ScamGraph Recognizes a Scam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From raw event features to graph relationships and AI pattern intelligence.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2103120" cy="3977639"/>
          </a:xfrm>
          <a:prstGeom prst="roundRect">
            <a:avLst/>
          </a:prstGeom>
          <a:solidFill>
            <a:srgbClr val="E5F2E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1417320"/>
            <a:ext cx="932688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LAYER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700784"/>
            <a:ext cx="1773936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Event Signals</a:t>
            </a:r>
          </a:p>
          <a:p>
            <a:pPr>
              <a:spcBef>
                <a:spcPts val="600"/>
              </a:spcBef>
              <a:defRPr sz="950">
                <a:solidFill>
                  <a:srgbClr val="3F2E46"/>
                </a:solidFill>
              </a:defRPr>
            </a:pPr>
            <a:r>
              <a:t>Structured features per event:</a:t>
            </a:r>
            <a:br/>
            <a:br/>
            <a:r>
              <a:t>• New Device  ✓</a:t>
            </a:r>
            <a:br/>
            <a:r>
              <a:t>• New Beneficiary  ✓</a:t>
            </a:r>
            <a:br/>
            <a:r>
              <a:t>• Suspicious URL  ✓</a:t>
            </a:r>
            <a:br/>
            <a:r>
              <a:t>• Large Amount  ✓</a:t>
            </a:r>
            <a:br/>
            <a:r>
              <a:t>• Rapid Transaction  ✓</a:t>
            </a:r>
            <a:br/>
            <a:r>
              <a:t>• Location Deviation 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280160"/>
            <a:ext cx="2103120" cy="3977639"/>
          </a:xfrm>
          <a:prstGeom prst="roundRect">
            <a:avLst/>
          </a:prstGeom>
          <a:solidFill>
            <a:srgbClr val="ECF3E4"/>
          </a:solidFill>
          <a:ln w="15875">
            <a:solidFill>
              <a:srgbClr val="B6C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53512" y="1417320"/>
            <a:ext cx="932688" cy="256032"/>
          </a:xfrm>
          <a:prstGeom prst="round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LAYER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700784"/>
            <a:ext cx="1773936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Behavioral Analysis</a:t>
            </a:r>
          </a:p>
          <a:p>
            <a:pPr>
              <a:spcBef>
                <a:spcPts val="600"/>
              </a:spcBef>
              <a:defRPr sz="950">
                <a:solidFill>
                  <a:srgbClr val="3F2E46"/>
                </a:solidFill>
              </a:defRPr>
            </a:pPr>
            <a:r>
              <a:t>Compare against historical context:</a:t>
            </a:r>
            <a:br/>
            <a:br/>
            <a:r>
              <a:t>• Unusual transaction amount</a:t>
            </a:r>
            <a:br/>
            <a:r>
              <a:t>• Unusual login/payment timing</a:t>
            </a:r>
            <a:br/>
            <a:r>
              <a:t>• Unseen device fingerprint</a:t>
            </a:r>
            <a:br/>
            <a:r>
              <a:t>• First-time beneficiary</a:t>
            </a:r>
            <a:br/>
            <a:r>
              <a:t>• Abnormal velocity spike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280160"/>
            <a:ext cx="2103120" cy="3977639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93792" y="1417320"/>
            <a:ext cx="932688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LAYER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1700784"/>
            <a:ext cx="1773936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Sequence Analysis</a:t>
            </a:r>
          </a:p>
          <a:p>
            <a:pPr>
              <a:spcBef>
                <a:spcPts val="600"/>
              </a:spcBef>
              <a:defRPr sz="950">
                <a:solidFill>
                  <a:srgbClr val="3F2E46"/>
                </a:solidFill>
              </a:defRPr>
            </a:pPr>
            <a:r>
              <a:t>Order + micro-timing compression:</a:t>
            </a:r>
            <a:br/>
            <a:br/>
            <a:r>
              <a:t>Phishing URL</a:t>
            </a:r>
            <a:br/>
            <a:r>
              <a:t>  ↓  3 min</a:t>
            </a:r>
            <a:br/>
            <a:r>
              <a:t>New Device</a:t>
            </a:r>
            <a:br/>
            <a:r>
              <a:t>  ↓  2 min</a:t>
            </a:r>
            <a:br/>
            <a:r>
              <a:t>New Beneficiary</a:t>
            </a:r>
            <a:br/>
            <a:r>
              <a:t>  ↓  1 min</a:t>
            </a:r>
            <a:br/>
            <a:r>
              <a:t>UPI Request → ₹1.5L 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280160"/>
            <a:ext cx="2103120" cy="3977639"/>
          </a:xfrm>
          <a:prstGeom prst="roundRect">
            <a:avLst/>
          </a:prstGeom>
          <a:solidFill>
            <a:srgbClr val="FDEFE0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34072" y="1417320"/>
            <a:ext cx="932688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LAYER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2" y="1700784"/>
            <a:ext cx="1773936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ScamGraph Topology</a:t>
            </a:r>
          </a:p>
          <a:p>
            <a:pPr>
              <a:spcBef>
                <a:spcPts val="600"/>
              </a:spcBef>
              <a:defRPr sz="950">
                <a:solidFill>
                  <a:srgbClr val="3F2E46"/>
                </a:solidFill>
              </a:defRPr>
            </a:pPr>
            <a:r>
              <a:t>Connect entities &amp; events:</a:t>
            </a:r>
            <a:br/>
            <a:br/>
            <a:r>
              <a:t>          [ USER ]</a:t>
            </a:r>
            <a:br/>
            <a:r>
              <a:t>         /    |    \</a:t>
            </a:r>
            <a:br/>
            <a:r>
              <a:t>  DEVICE  URL  BENEFICIARY</a:t>
            </a:r>
            <a:br/>
            <a:r>
              <a:t>              |</a:t>
            </a:r>
            <a:br/>
            <a:r>
              <a:t>              ↓</a:t>
            </a:r>
            <a:br/>
            <a:r>
              <a:t>      [ TRANSACTION ]</a:t>
            </a:r>
            <a:br/>
            <a:br/>
            <a:r>
              <a:t>Exposes multi-node attack paths.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1280160"/>
            <a:ext cx="2103120" cy="3977639"/>
          </a:xfrm>
          <a:prstGeom prst="roundRect">
            <a:avLst/>
          </a:prstGeom>
          <a:solidFill>
            <a:srgbClr val="EEE9F6"/>
          </a:solidFill>
          <a:ln w="15875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74352" y="1417320"/>
            <a:ext cx="932688" cy="256032"/>
          </a:xfrm>
          <a:prstGeom prst="roundRect">
            <a:avLst/>
          </a:prstGeom>
          <a:solidFill>
            <a:srgbClr val="BAA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LAYER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1700784"/>
            <a:ext cx="1773936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AI Pattern Engine</a:t>
            </a:r>
          </a:p>
          <a:p>
            <a:pPr>
              <a:spcBef>
                <a:spcPts val="600"/>
              </a:spcBef>
              <a:defRPr sz="950">
                <a:solidFill>
                  <a:srgbClr val="3F2E46"/>
                </a:solidFill>
              </a:defRPr>
            </a:pPr>
            <a:r>
              <a:t>AI Layer identifies:</a:t>
            </a:r>
            <a:br/>
            <a:br/>
            <a:r>
              <a:t>• Known scam pattern</a:t>
            </a:r>
            <a:br/>
            <a:r>
              <a:t>• Similar-to-known pattern</a:t>
            </a:r>
            <a:br/>
            <a:r>
              <a:t>• Emerging scam variant</a:t>
            </a:r>
            <a:br/>
            <a:r>
              <a:t>• Scam category taxonomy</a:t>
            </a:r>
            <a:br/>
            <a:r>
              <a:t>• Confidence score</a:t>
            </a:r>
            <a:br/>
            <a:r>
              <a:t>• Human-readable explanation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868680"/>
          </a:xfrm>
          <a:prstGeom prst="roundRect">
            <a:avLst/>
          </a:prstGeom>
          <a:solidFill>
            <a:srgbClr val="F2ECE4"/>
          </a:solidFill>
          <a:ln w="19050">
            <a:solidFill>
              <a:srgbClr val="3F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KEY ARCHITECTURAL DESIGN DECISION</a:t>
            </a:r>
          </a:p>
          <a:p>
            <a:pPr algn="ctr">
              <a:defRPr sz="1400" b="1">
                <a:solidFill>
                  <a:srgbClr val="3F2E46"/>
                </a:solidFill>
              </a:defRPr>
            </a:pPr>
            <a:r>
              <a:t>AI provides pattern intelligence; deterministic risk &amp; policy logic controls financial intervention.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06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011680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CORE PRODUCT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10 Capabilities, One Connected Workflow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End-to-end protection from real-time event monitoring to post-incident dispute recovery.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2103120" cy="1783080"/>
          </a:xfrm>
          <a:prstGeom prst="roundRect">
            <a:avLst/>
          </a:prstGeom>
          <a:solidFill>
            <a:srgbClr val="E5F2E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1417320"/>
            <a:ext cx="1536192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70078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Real-Time Event Monitoring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Continuously process authorized financial &amp; security events.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280160"/>
            <a:ext cx="2103120" cy="1783080"/>
          </a:xfrm>
          <a:prstGeom prst="roundRect">
            <a:avLst/>
          </a:prstGeom>
          <a:solidFill>
            <a:srgbClr val="E5F2E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53512" y="1417320"/>
            <a:ext cx="1536192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70078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Scam Journey Detection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Connect isolated events into a time-aware scam journey.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280160"/>
            <a:ext cx="2103120" cy="1783080"/>
          </a:xfrm>
          <a:prstGeom prst="roundRect">
            <a:avLst/>
          </a:prstGeom>
          <a:solidFill>
            <a:srgbClr val="ECF3E4"/>
          </a:solidFill>
          <a:ln w="15875">
            <a:solidFill>
              <a:srgbClr val="B6C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93792" y="1417320"/>
            <a:ext cx="1536192" cy="256032"/>
          </a:xfrm>
          <a:prstGeom prst="round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170078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AI Scam Pattern Recognition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Identify known multi-stage scam workflows with high recall.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280160"/>
            <a:ext cx="2103120" cy="1783080"/>
          </a:xfrm>
          <a:prstGeom prst="roundRect">
            <a:avLst/>
          </a:prstGeom>
          <a:solidFill>
            <a:srgbClr val="ECF3E4"/>
          </a:solidFill>
          <a:ln w="15875">
            <a:solidFill>
              <a:srgbClr val="B6C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34072" y="1417320"/>
            <a:ext cx="1536192" cy="256032"/>
          </a:xfrm>
          <a:prstGeom prst="round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2" y="170078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Emerging Scam Detection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Spot new variants via structural &amp; behavioral similarity.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1280160"/>
            <a:ext cx="2103120" cy="1783080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74352" y="1417320"/>
            <a:ext cx="1536192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170078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Dynamic Risk Scoring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Generate a calibrated 0–100 risk score across all layers.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46120"/>
            <a:ext cx="2103120" cy="1783080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3232" y="3383280"/>
            <a:ext cx="1536192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66674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Explainable Risk Analysis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Show customers &amp; analysts exactly why a journey is risky.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88920" y="3246120"/>
            <a:ext cx="2103120" cy="1783080"/>
          </a:xfrm>
          <a:prstGeom prst="roundRect">
            <a:avLst/>
          </a:prstGeom>
          <a:solidFill>
            <a:srgbClr val="FDEFE0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953512" y="3383280"/>
            <a:ext cx="1536192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53512" y="366674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Smart Alerting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Prioritize meaningful scam journeys and suppress noise.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3246120"/>
            <a:ext cx="2103120" cy="1783080"/>
          </a:xfrm>
          <a:prstGeom prst="roundRect">
            <a:avLst/>
          </a:prstGeom>
          <a:solidFill>
            <a:srgbClr val="FDEFE0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193792" y="3383280"/>
            <a:ext cx="1536192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366674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Adaptive Intervention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Allow, verify, step-up or hold/escalate by risk &amp; policy.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69480" y="3246120"/>
            <a:ext cx="2103120" cy="1783080"/>
          </a:xfrm>
          <a:prstGeom prst="roundRect">
            <a:avLst/>
          </a:prstGeom>
          <a:solidFill>
            <a:srgbClr val="EEE9F6"/>
          </a:solidFill>
          <a:ln w="15875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434072" y="3383280"/>
            <a:ext cx="1536192" cy="256032"/>
          </a:xfrm>
          <a:prstGeom prst="roundRect">
            <a:avLst/>
          </a:prstGeom>
          <a:solidFill>
            <a:srgbClr val="BAA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34072" y="366674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Investigator ScamGraph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Visual timeline, entity relationships, evidence &amp; AI summary.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60" y="3246120"/>
            <a:ext cx="2103120" cy="1783080"/>
          </a:xfrm>
          <a:prstGeom prst="roundRect">
            <a:avLst/>
          </a:prstGeom>
          <a:solidFill>
            <a:srgbClr val="EEE9F6"/>
          </a:solidFill>
          <a:ln w="15875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674352" y="3383280"/>
            <a:ext cx="1536192" cy="256032"/>
          </a:xfrm>
          <a:prstGeom prst="roundRect">
            <a:avLst/>
          </a:prstGeom>
          <a:solidFill>
            <a:srgbClr val="BAA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CAPABILITY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352" y="3666744"/>
            <a:ext cx="177393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Response &amp; Recovery</a:t>
            </a:r>
          </a:p>
          <a:p>
            <a:pPr>
              <a:spcBef>
                <a:spcPts val="600"/>
              </a:spcBef>
              <a:defRPr sz="950">
                <a:solidFill>
                  <a:srgbClr val="76687D"/>
                </a:solidFill>
              </a:defRPr>
            </a:pPr>
            <a:r>
              <a:t>Turn fraud into an actionable investigation &amp; dispute case.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394960"/>
            <a:ext cx="1627632" cy="777240"/>
          </a:xfrm>
          <a:prstGeom prst="roundRect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Monitor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2212848" y="5687568"/>
            <a:ext cx="164592" cy="201168"/>
          </a:xfrm>
          <a:prstGeom prst="rightArrow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23160" y="5394960"/>
            <a:ext cx="1627632" cy="777240"/>
          </a:xfrm>
          <a:prstGeom prst="roundRect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Connect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087368" y="5687568"/>
            <a:ext cx="164592" cy="201168"/>
          </a:xfrm>
          <a:prstGeom prst="rightArrow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7679" y="5394960"/>
            <a:ext cx="1627632" cy="777240"/>
          </a:xfrm>
          <a:prstGeom prst="roundRect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Detect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961887" y="5687568"/>
            <a:ext cx="164592" cy="201168"/>
          </a:xfrm>
          <a:prstGeom prst="rightArrow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172199" y="5394960"/>
            <a:ext cx="1627632" cy="777240"/>
          </a:xfrm>
          <a:prstGeom prst="roundRect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Score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836407" y="5687568"/>
            <a:ext cx="164592" cy="201168"/>
          </a:xfrm>
          <a:prstGeom prst="rightArrow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46719" y="5394960"/>
            <a:ext cx="1627632" cy="777240"/>
          </a:xfrm>
          <a:prstGeom prst="roundRect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Intervene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710927" y="5687568"/>
            <a:ext cx="164592" cy="201168"/>
          </a:xfrm>
          <a:prstGeom prst="rightArrow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921240" y="5394960"/>
            <a:ext cx="1627632" cy="777240"/>
          </a:xfrm>
          <a:prstGeom prst="roundRect">
            <a:avLst/>
          </a:prstGeom>
          <a:solidFill>
            <a:srgbClr val="3F2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6. Investigate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07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011680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SMART INTERVENTION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Alert Fatigue + Intervention: High Detection ≠ More Alerts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ScamGraph evaluates Risk + Confidence + Sequence + Financial Impact before interrupting the user.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34440"/>
            <a:ext cx="11064240" cy="685800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F2E46"/>
                </a:solidFill>
              </a:defRPr>
            </a:pPr>
            <a:r>
              <a:t>THE ALERT FATIGUE TRAP:   More Alerts  ➔  More Noise  ➔  Less User Attention  ➔  Critical Warnings Get Ignored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3547872" cy="1828800"/>
          </a:xfrm>
          <a:prstGeom prst="roundRect">
            <a:avLst/>
          </a:prstGeom>
          <a:solidFill>
            <a:srgbClr val="ECF3E4"/>
          </a:solidFill>
          <a:ln w="15875">
            <a:solidFill>
              <a:srgbClr val="B6C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2194560"/>
            <a:ext cx="2441448" cy="256032"/>
          </a:xfrm>
          <a:prstGeom prst="round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EXAMPLE 1 — LEGITIMATE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78024"/>
            <a:ext cx="32186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Risk: 8 / 100  →  Silent Allow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Known Device</a:t>
            </a:r>
            <a:br/>
            <a:r>
              <a:t>• Known Beneficiary</a:t>
            </a:r>
            <a:br/>
            <a:r>
              <a:t>• ₹2,000 Routine Transfer</a:t>
            </a:r>
            <a:br/>
            <a:r>
              <a:t>• Zero user interruption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057400"/>
            <a:ext cx="3547872" cy="1828800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80560" y="2194560"/>
            <a:ext cx="2441448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EXAMPLE 2 — SUSPICIOUS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478024"/>
            <a:ext cx="32186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Risk: 61 / 100  →  Verification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New Device</a:t>
            </a:r>
            <a:br/>
            <a:r>
              <a:t>• New Beneficiary</a:t>
            </a:r>
            <a:br/>
            <a:r>
              <a:t>• ₹30,000 Transfer</a:t>
            </a:r>
            <a:br/>
            <a:r>
              <a:t>• Contextual warning &amp; verify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057400"/>
            <a:ext cx="3547872" cy="1828800"/>
          </a:xfrm>
          <a:prstGeom prst="roundRect">
            <a:avLst/>
          </a:prstGeom>
          <a:solidFill>
            <a:srgbClr val="FDEFE0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47888" y="2194560"/>
            <a:ext cx="2944368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EXAMPLE 3 — AI-ENABLED SCAM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478024"/>
            <a:ext cx="32186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Risk: 96 / 100  →  Critical Hold</a:t>
            </a:r>
          </a:p>
          <a:p>
            <a:pPr>
              <a:spcBef>
                <a:spcPts val="400"/>
              </a:spcBef>
              <a:defRPr sz="950">
                <a:solidFill>
                  <a:srgbClr val="3F2E46"/>
                </a:solidFill>
              </a:defRPr>
            </a:pPr>
            <a:r>
              <a:t>• Suspicious URL + New Device</a:t>
            </a:r>
            <a:br/>
            <a:r>
              <a:t>• New Beneficiary + UPI Request</a:t>
            </a:r>
            <a:br/>
            <a:r>
              <a:t>• ₹1.5L + Rapid 7-min Sequence</a:t>
            </a:r>
            <a:br/>
            <a:r>
              <a:t>• Protective hold &amp; escalation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23360"/>
            <a:ext cx="548640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51376"/>
            <a:ext cx="5157216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22" name="Picture 21" descr="aler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078224"/>
            <a:ext cx="5212080" cy="2606040"/>
          </a:xfrm>
          <a:prstGeom prst="rect">
            <a:avLst/>
          </a:prstGeom>
        </p:spPr>
      </p:pic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217920" y="40233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Risk Tier</a:t>
                      </a:r>
                    </a:p>
                  </a:txBody>
                  <a:tcPr>
                    <a:solidFill>
                      <a:srgbClr val="3F2E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Score Range</a:t>
                      </a:r>
                    </a:p>
                  </a:txBody>
                  <a:tcPr>
                    <a:solidFill>
                      <a:srgbClr val="3F2E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Policy-Controlled Action</a:t>
                      </a:r>
                    </a:p>
                  </a:txBody>
                  <a:tcPr>
                    <a:solidFill>
                      <a:srgbClr val="3F2E4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CF3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F2E46"/>
                          </a:solidFill>
                        </a:defRPr>
                      </a:pPr>
                      <a:r>
                        <a:t>0 – 29</a:t>
                      </a:r>
                    </a:p>
                  </a:txBody>
                  <a:tcPr>
                    <a:solidFill>
                      <a:srgbClr val="ECF3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Monitor / Silent Allow</a:t>
                      </a:r>
                    </a:p>
                  </a:txBody>
                  <a:tcPr>
                    <a:solidFill>
                      <a:srgbClr val="ECF3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2EC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F2E46"/>
                          </a:solidFill>
                        </a:defRPr>
                      </a:pPr>
                      <a:r>
                        <a:t>30 – 59</a:t>
                      </a:r>
                    </a:p>
                  </a:txBody>
                  <a:tcPr>
                    <a:solidFill>
                      <a:srgbClr val="F2EC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Notify / Contextual Verify</a:t>
                      </a:r>
                    </a:p>
                  </a:txBody>
                  <a:tcPr>
                    <a:solidFill>
                      <a:srgbClr val="F2EC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DEF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F2E46"/>
                          </a:solidFill>
                        </a:defRPr>
                      </a:pPr>
                      <a:r>
                        <a:t>60 – 79</a:t>
                      </a:r>
                    </a:p>
                  </a:txBody>
                  <a:tcPr>
                    <a:solidFill>
                      <a:srgbClr val="FDEF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Step-Up Authentication</a:t>
                      </a:r>
                    </a:p>
                  </a:txBody>
                  <a:tcPr>
                    <a:solidFill>
                      <a:srgbClr val="FDEF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EEE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F2E46"/>
                          </a:solidFill>
                        </a:defRPr>
                      </a:pPr>
                      <a:r>
                        <a:t>80 – 100</a:t>
                      </a:r>
                    </a:p>
                  </a:txBody>
                  <a:tcPr>
                    <a:solidFill>
                      <a:srgbClr val="EEE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F2E46"/>
                          </a:solidFill>
                        </a:defRPr>
                      </a:pPr>
                      <a:r>
                        <a:t>Hold / Escalate per Policy</a:t>
                      </a:r>
                    </a:p>
                  </a:txBody>
                  <a:tcPr>
                    <a:solidFill>
                      <a:srgbClr val="EE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08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011680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VALIDATION &amp;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How We Prove It Works — Safely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Rigorous 3-tier validation, operational telemetry, and enterprise security safeguards.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3749039" cy="5074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1417320"/>
            <a:ext cx="1837943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VALIDATION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700784"/>
            <a:ext cx="3419855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3-Tier Validation Protocol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F2E46"/>
                </a:solidFill>
              </a:rPr>
              <a:t>Test 1 — Legitimate Journeys: </a:t>
            </a:r>
            <a:r>
              <a:rPr sz="1000">
                <a:solidFill>
                  <a:srgbClr val="76687D"/>
                </a:solidFill>
              </a:rPr>
              <a:t>Known device + normal beneficiary + normal transaction.
➔ Measure: False-Positive Rate (&lt;3.5%).</a:t>
            </a:r>
          </a:p>
          <a:p>
            <a:pPr>
              <a:spcBef>
                <a:spcPts val="1000"/>
              </a:spcBef>
            </a:pPr>
            <a:r>
              <a:rPr b="1" sz="1000">
                <a:solidFill>
                  <a:srgbClr val="3F2E46"/>
                </a:solidFill>
              </a:rPr>
              <a:t>Test 2 — Known Scam Journeys: </a:t>
            </a:r>
            <a:r>
              <a:rPr sz="1000">
                <a:solidFill>
                  <a:srgbClr val="76687D"/>
                </a:solidFill>
              </a:rPr>
              <a:t>Fake KYC, phishing, impersonation, account takeover.
➔ Measure: Precision (96.4%), Recall (100%), F1 (98.2%).</a:t>
            </a:r>
          </a:p>
          <a:p>
            <a:pPr>
              <a:spcBef>
                <a:spcPts val="1000"/>
              </a:spcBef>
            </a:pPr>
            <a:r>
              <a:rPr b="1" sz="1000">
                <a:solidFill>
                  <a:srgbClr val="3F2E46"/>
                </a:solidFill>
              </a:rPr>
              <a:t>Test 3 — Emerging Variants: </a:t>
            </a:r>
            <a:r>
              <a:rPr sz="1000">
                <a:solidFill>
                  <a:srgbClr val="76687D"/>
                </a:solidFill>
              </a:rPr>
              <a:t>Mutate event order, timing, amount, device, beneficiary &amp; attack vector.
➔ Measure: Detection of structurally similar unseen patterns.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280160"/>
            <a:ext cx="3840480" cy="2286000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45152" y="1417320"/>
            <a:ext cx="2139696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OPERATIONAL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700784"/>
            <a:ext cx="3511296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Operational Telemetry KPIs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3F2E46"/>
                </a:solidFill>
              </a:rPr>
              <a:t>• Detection Latency: </a:t>
            </a:r>
            <a:r>
              <a:rPr sz="950">
                <a:solidFill>
                  <a:srgbClr val="76687D"/>
                </a:solidFill>
              </a:rPr>
              <a:t>Real-time scoring (&lt;120ms)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3F2E46"/>
                </a:solidFill>
              </a:rPr>
              <a:t>• Alert Density: </a:t>
            </a:r>
            <a:r>
              <a:rPr sz="950">
                <a:solidFill>
                  <a:srgbClr val="76687D"/>
                </a:solidFill>
              </a:rPr>
              <a:t>Alerts per 1,000 events tracked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3F2E46"/>
                </a:solidFill>
              </a:rPr>
              <a:t>• Noise Suppression: </a:t>
            </a:r>
            <a:r>
              <a:rPr sz="950">
                <a:solidFill>
                  <a:srgbClr val="76687D"/>
                </a:solidFill>
              </a:rPr>
              <a:t>84% low-value alerts suppressed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3F2E46"/>
                </a:solidFill>
              </a:rPr>
              <a:t>• Analyst Efficiency: </a:t>
            </a:r>
            <a:r>
              <a:rPr sz="950">
                <a:solidFill>
                  <a:srgbClr val="76687D"/>
                </a:solidFill>
              </a:rPr>
              <a:t>Investigation time &amp; escalation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703320"/>
            <a:ext cx="384048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3831336"/>
            <a:ext cx="3511296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18" name="Picture 17" descr="validation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767328"/>
            <a:ext cx="3657600" cy="21336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503920" y="1280160"/>
            <a:ext cx="3108960" cy="5074920"/>
          </a:xfrm>
          <a:prstGeom prst="roundRect">
            <a:avLst/>
          </a:prstGeom>
          <a:solidFill>
            <a:srgbClr val="EEE9F6"/>
          </a:solidFill>
          <a:ln w="15875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68512" y="1417320"/>
            <a:ext cx="2039112" cy="256032"/>
          </a:xfrm>
          <a:prstGeom prst="roundRect">
            <a:avLst/>
          </a:prstGeom>
          <a:solidFill>
            <a:srgbClr val="BAA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SECURITY &amp; PRIVACY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2" y="1700784"/>
            <a:ext cx="2779776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Enterprise Safeguards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3F2E46"/>
                </a:solidFill>
              </a:rPr>
              <a:t>✓ Data Minimization: </a:t>
            </a:r>
            <a:r>
              <a:rPr sz="950">
                <a:solidFill>
                  <a:srgbClr val="76687D"/>
                </a:solidFill>
              </a:rPr>
              <a:t>Process only required signals; auto-redact PII/OTPs.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3F2E46"/>
                </a:solidFill>
              </a:rPr>
              <a:t>✓ Encryption: </a:t>
            </a:r>
            <a:r>
              <a:rPr sz="950">
                <a:solidFill>
                  <a:srgbClr val="76687D"/>
                </a:solidFill>
              </a:rPr>
              <a:t>Protect sensitive signals in transit and at rest.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3F2E46"/>
                </a:solidFill>
              </a:rPr>
              <a:t>✓ Role-Based Access (RBAC): </a:t>
            </a:r>
            <a:r>
              <a:rPr sz="950">
                <a:solidFill>
                  <a:srgbClr val="76687D"/>
                </a:solidFill>
              </a:rPr>
              <a:t>Separate customer, analyst &amp; admin views.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3F2E46"/>
                </a:solidFill>
              </a:rPr>
              <a:t>✓ Immutable Audit Logs: </a:t>
            </a:r>
            <a:r>
              <a:rPr sz="950">
                <a:solidFill>
                  <a:srgbClr val="76687D"/>
                </a:solidFill>
              </a:rPr>
              <a:t>Record all risk scores and analyst actions.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3F2E46"/>
                </a:solidFill>
              </a:rPr>
              <a:t>✓ Human-in-the-Loop: </a:t>
            </a:r>
            <a:r>
              <a:rPr sz="950">
                <a:solidFill>
                  <a:srgbClr val="76687D"/>
                </a:solidFill>
              </a:rPr>
              <a:t>Critical or ambiguous cases escalate for review.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3F2E46"/>
                </a:solidFill>
              </a:rPr>
              <a:t>✓ Strict AI Boundaries: </a:t>
            </a:r>
            <a:r>
              <a:rPr sz="950">
                <a:solidFill>
                  <a:srgbClr val="76687D"/>
                </a:solidFill>
              </a:rPr>
              <a:t>AI never independently authorizes financial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256032"/>
            <a:ext cx="960120" cy="292608"/>
          </a:xfrm>
          <a:prstGeom prst="roundRect">
            <a:avLst/>
          </a:prstGeom>
          <a:solidFill>
            <a:srgbClr val="F2ECE4"/>
          </a:solidFill>
          <a:ln>
            <a:solidFill>
              <a:srgbClr val="DED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6687D"/>
                </a:solidFill>
              </a:defRPr>
            </a:pPr>
            <a:r>
              <a:t>09 /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"/>
            <a:ext cx="2011680" cy="292608"/>
          </a:xfrm>
          <a:prstGeom prst="roundRect">
            <a:avLst/>
          </a:prstGeom>
          <a:solidFill>
            <a:srgbClr val="E5F2EF"/>
          </a:solidFill>
          <a:ln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F2E46"/>
                </a:solidFill>
              </a:defRPr>
            </a:pPr>
            <a:r>
              <a:t>EXECUTION &amp;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F2E46"/>
                </a:solidFill>
              </a:defRPr>
            </a:pPr>
            <a:r>
              <a:t>48-Hour Hackathon Prototype &amp; Working System</a:t>
            </a:r>
          </a:p>
          <a:p>
            <a:pPr>
              <a:defRPr sz="1150">
                <a:solidFill>
                  <a:srgbClr val="76687D"/>
                </a:solidFill>
              </a:defRPr>
            </a:pPr>
            <a:r>
              <a:t>Complete end-to-end build from event simulation and ScamGraph engine to live investigation 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2103120" cy="3108960"/>
          </a:xfrm>
          <a:prstGeom prst="roundRect">
            <a:avLst/>
          </a:prstGeom>
          <a:solidFill>
            <a:srgbClr val="E5F2EF"/>
          </a:solidFill>
          <a:ln w="15875">
            <a:solidFill>
              <a:srgbClr val="84C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1463040"/>
            <a:ext cx="1335024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0 – 8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746504"/>
            <a:ext cx="177393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Foundation &amp; Simulator</a:t>
            </a:r>
          </a:p>
          <a:p>
            <a:pPr>
              <a:spcBef>
                <a:spcPts val="800"/>
              </a:spcBef>
              <a:defRPr sz="950">
                <a:solidFill>
                  <a:srgbClr val="3F2E46"/>
                </a:solidFill>
              </a:defRPr>
            </a:pPr>
            <a:r>
              <a:t>• Multi-stage event simulator</a:t>
            </a:r>
            <a:br/>
            <a:r>
              <a:t>• FastAPI backend architecture</a:t>
            </a:r>
            <a:br/>
            <a:r>
              <a:t>• Relational + Graph DB schema</a:t>
            </a:r>
            <a:br/>
            <a:r>
              <a:t>• React + Tailwind UI foundation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325880"/>
            <a:ext cx="2103120" cy="3108960"/>
          </a:xfrm>
          <a:prstGeom prst="roundRect">
            <a:avLst/>
          </a:prstGeom>
          <a:solidFill>
            <a:srgbClr val="ECF3E4"/>
          </a:solidFill>
          <a:ln w="15875">
            <a:solidFill>
              <a:srgbClr val="B6C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53512" y="1463040"/>
            <a:ext cx="1435608" cy="256032"/>
          </a:xfrm>
          <a:prstGeom prst="roundRect">
            <a:avLst/>
          </a:prstGeom>
          <a:solidFill>
            <a:srgbClr val="B6C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8 – 20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746504"/>
            <a:ext cx="177393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ScamGraph &amp; Risk Engine</a:t>
            </a:r>
          </a:p>
          <a:p>
            <a:pPr>
              <a:spcBef>
                <a:spcPts val="800"/>
              </a:spcBef>
              <a:defRPr sz="950">
                <a:solidFill>
                  <a:srgbClr val="3F2E46"/>
                </a:solidFill>
              </a:defRPr>
            </a:pPr>
            <a:r>
              <a:t>• Real-time event ingestion</a:t>
            </a:r>
            <a:br/>
            <a:r>
              <a:t>• Entity-relationship ScamGraph</a:t>
            </a:r>
            <a:br/>
            <a:r>
              <a:t>• Sequence &amp; velocity tracker</a:t>
            </a:r>
            <a:br/>
            <a:r>
              <a:t>• Multi-layer 0–100 risk engine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325880"/>
            <a:ext cx="2103120" cy="3108960"/>
          </a:xfrm>
          <a:prstGeom prst="roundRect">
            <a:avLst/>
          </a:prstGeom>
          <a:solidFill>
            <a:srgbClr val="F2ECE4"/>
          </a:solidFill>
          <a:ln w="15875">
            <a:solidFill>
              <a:srgbClr val="E3C7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93792" y="1463040"/>
            <a:ext cx="1536192" cy="256032"/>
          </a:xfrm>
          <a:prstGeom prst="roundRect">
            <a:avLst/>
          </a:prstGeom>
          <a:solidFill>
            <a:srgbClr val="E3C7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20 – 30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1746504"/>
            <a:ext cx="177393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AI &amp; Emerging Discovery</a:t>
            </a:r>
          </a:p>
          <a:p>
            <a:pPr>
              <a:spcBef>
                <a:spcPts val="800"/>
              </a:spcBef>
              <a:defRPr sz="950">
                <a:solidFill>
                  <a:srgbClr val="3F2E46"/>
                </a:solidFill>
              </a:defRPr>
            </a:pPr>
            <a:r>
              <a:t>• Multilingual scam classifier</a:t>
            </a:r>
            <a:br/>
            <a:r>
              <a:t>• Scam DNA vector embeddings</a:t>
            </a:r>
            <a:br/>
            <a:r>
              <a:t>• DBSCAN emerging cluster detection</a:t>
            </a:r>
            <a:br/>
            <a:r>
              <a:t>• Explainable evidence generator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325880"/>
            <a:ext cx="2103120" cy="3108960"/>
          </a:xfrm>
          <a:prstGeom prst="roundRect">
            <a:avLst/>
          </a:prstGeom>
          <a:solidFill>
            <a:srgbClr val="FDEFE0"/>
          </a:solidFill>
          <a:ln w="15875">
            <a:solidFill>
              <a:srgbClr val="F3A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34072" y="1463040"/>
            <a:ext cx="1536192" cy="256032"/>
          </a:xfrm>
          <a:prstGeom prst="roundRect">
            <a:avLst/>
          </a:prstGeom>
          <a:solidFill>
            <a:srgbClr val="F3A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30 – 40 HOURS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2" y="1746504"/>
            <a:ext cx="177393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Dashboard &amp; Investigation</a:t>
            </a:r>
          </a:p>
          <a:p>
            <a:pPr>
              <a:spcBef>
                <a:spcPts val="800"/>
              </a:spcBef>
              <a:defRPr sz="950">
                <a:solidFill>
                  <a:srgbClr val="3F2E46"/>
                </a:solidFill>
              </a:defRPr>
            </a:pPr>
            <a:r>
              <a:t>• SecOps intelligence dashboard</a:t>
            </a:r>
            <a:br/>
            <a:r>
              <a:t>• Adaptive alert fatigue engine</a:t>
            </a:r>
            <a:br/>
            <a:r>
              <a:t>• React Flow interactive ScamGraph</a:t>
            </a:r>
            <a:br/>
            <a:r>
              <a:t>• Live 5-step attack simulation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1325880"/>
            <a:ext cx="2103120" cy="3108960"/>
          </a:xfrm>
          <a:prstGeom prst="roundRect">
            <a:avLst/>
          </a:prstGeom>
          <a:solidFill>
            <a:srgbClr val="EEE9F6"/>
          </a:solidFill>
          <a:ln w="15875">
            <a:solidFill>
              <a:srgbClr val="BAA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74352" y="1463040"/>
            <a:ext cx="1536192" cy="256032"/>
          </a:xfrm>
          <a:prstGeom prst="roundRect">
            <a:avLst/>
          </a:prstGeom>
          <a:solidFill>
            <a:srgbClr val="BAA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40 – 48 HOURS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1746504"/>
            <a:ext cx="177393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Validation &amp; Final Demo</a:t>
            </a:r>
          </a:p>
          <a:p>
            <a:pPr>
              <a:spcBef>
                <a:spcPts val="800"/>
              </a:spcBef>
              <a:defRPr sz="950">
                <a:solidFill>
                  <a:srgbClr val="3F2E46"/>
                </a:solidFill>
              </a:defRPr>
            </a:pPr>
            <a:r>
              <a:t>• 3-tier validation benchmarks</a:t>
            </a:r>
            <a:br/>
            <a:r>
              <a:t>• PII redaction &amp; security audit</a:t>
            </a:r>
            <a:br/>
            <a:r>
              <a:t>• End-to-end latency testing</a:t>
            </a:r>
            <a:br/>
            <a:r>
              <a:t>• Live IITD Hackathon pitch readiness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663440"/>
            <a:ext cx="11064240" cy="1691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F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3232" y="4800600"/>
            <a:ext cx="5559552" cy="256032"/>
          </a:xfrm>
          <a:prstGeom prst="roundRect">
            <a:avLst/>
          </a:prstGeom>
          <a:solidFill>
            <a:srgbClr val="84C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3F2E46"/>
                </a:solidFill>
              </a:defRPr>
            </a:pPr>
            <a:r>
              <a:t>LIVE PROTOTYPE • GITHUB.COM/NISHKARSH807/SCAMGRAPH-AI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084064"/>
            <a:ext cx="10735056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F2E46"/>
                </a:solidFill>
              </a:defRPr>
            </a:pPr>
            <a:r>
              <a:t>ScamGraph — Ready for Live Demonstration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3F2E46"/>
                </a:solidFill>
              </a:rPr>
              <a:t>• Complete Working Stack: </a:t>
            </a:r>
            <a:r>
              <a:rPr sz="1050">
                <a:solidFill>
                  <a:srgbClr val="76687D"/>
                </a:solidFill>
              </a:rPr>
              <a:t>FastAPI + Multilingual AI Classifier + 8 Playbook State Machines + React Flow Investigator Graph + Adaptive Alerting.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3F2E46"/>
                </a:solidFill>
              </a:rPr>
              <a:t>• Core Takeaway: </a:t>
            </a:r>
            <a:r>
              <a:rPr sz="1050">
                <a:solidFill>
                  <a:srgbClr val="76687D"/>
                </a:solidFill>
              </a:rPr>
              <a:t>We don't alert on isolated anomalies. ScamGraph detects when connected events form a credible scam journey — protecting customers and SecOps teams before money moves.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